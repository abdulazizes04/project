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4851" r:id="rId1"/>
  </p:sldMasterIdLst>
  <p:notesMasterIdLst>
    <p:notesMasterId r:id="rId12"/>
  </p:notesMasterIdLst>
  <p:sldIdLst>
    <p:sldId id="335" r:id="rId2"/>
    <p:sldId id="336" r:id="rId3"/>
    <p:sldId id="259" r:id="rId4"/>
    <p:sldId id="328" r:id="rId5"/>
    <p:sldId id="333" r:id="rId6"/>
    <p:sldId id="334" r:id="rId7"/>
    <p:sldId id="337" r:id="rId8"/>
    <p:sldId id="315" r:id="rId9"/>
    <p:sldId id="314" r:id="rId10"/>
    <p:sldId id="338"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p:cViewPr varScale="1">
        <p:scale>
          <a:sx n="82" d="100"/>
          <a:sy n="82" d="100"/>
        </p:scale>
        <p:origin x="1474"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7T10:49:58.138"/>
    </inkml:context>
    <inkml:brush xml:id="br0">
      <inkml:brushProperty name="width" value="0.035" units="cm"/>
      <inkml:brushProperty name="height" value="0.035" units="cm"/>
      <inkml:brushProperty name="color" value="#E71224"/>
    </inkml:brush>
  </inkml:definitions>
  <inkml:trace contextRef="#ctx0" brushRef="#br0">27 1 24575,'-5'0'0,"-5"0"0,-1 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F45415E-EB41-4C25-B5A7-7916CD63F2A9}" type="datetimeFigureOut">
              <a:rPr lang="en-US" smtClean="0"/>
              <a:t>8/11/2026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6FE356B-A4E4-45D7-95CA-D6549A1E51DA}" type="slidenum">
              <a:rPr lang="en-US" smtClean="0"/>
              <a:t>‹#›</a:t>
            </a:fld>
            <a:endParaRPr lang="en-US"/>
          </a:p>
        </p:txBody>
      </p:sp>
    </p:spTree>
    <p:extLst>
      <p:ext uri="{BB962C8B-B14F-4D97-AF65-F5344CB8AC3E}">
        <p14:creationId xmlns:p14="http://schemas.microsoft.com/office/powerpoint/2010/main" val="39542660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04014-C75F-0E1E-7669-46A981A66FCE}"/>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212EBFBB-A355-0A4D-869B-8E60B869D1E7}"/>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0600BAEF-732D-9BA2-EA14-BDD1DA5C6D78}"/>
              </a:ext>
            </a:extLst>
          </p:cNvPr>
          <p:cNvSpPr>
            <a:spLocks noGrp="1"/>
          </p:cNvSpPr>
          <p:nvPr>
            <p:ph type="dt" sz="half" idx="10"/>
          </p:nvPr>
        </p:nvSpPr>
        <p:spPr/>
        <p:txBody>
          <a:bodyPr/>
          <a:lstStyle/>
          <a:p>
            <a:fld id="{32BA5666-C778-4D3F-A403-8D9F3995DD5E}" type="datetimeFigureOut">
              <a:rPr lang="en-US" smtClean="0"/>
              <a:t>8/11/2026</a:t>
            </a:fld>
            <a:endParaRPr lang="en-US"/>
          </a:p>
        </p:txBody>
      </p:sp>
      <p:sp>
        <p:nvSpPr>
          <p:cNvPr id="5" name="Footer Placeholder 4">
            <a:extLst>
              <a:ext uri="{FF2B5EF4-FFF2-40B4-BE49-F238E27FC236}">
                <a16:creationId xmlns:a16="http://schemas.microsoft.com/office/drawing/2014/main" id="{C14ABC36-9711-75BD-4483-9656CA03C4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A5128B-3BF9-20E1-20B2-52C3970F93FA}"/>
              </a:ext>
            </a:extLst>
          </p:cNvPr>
          <p:cNvSpPr>
            <a:spLocks noGrp="1"/>
          </p:cNvSpPr>
          <p:nvPr>
            <p:ph type="sldNum" sz="quarter" idx="12"/>
          </p:nvPr>
        </p:nvSpPr>
        <p:spPr/>
        <p:txBody>
          <a:bodyPr/>
          <a:lstStyle/>
          <a:p>
            <a:fld id="{29B6CBEE-9714-4BEA-A5A0-8A3984C77745}" type="slidenum">
              <a:rPr lang="en-US" smtClean="0"/>
              <a:t>‹#›</a:t>
            </a:fld>
            <a:endParaRPr lang="en-US"/>
          </a:p>
        </p:txBody>
      </p:sp>
    </p:spTree>
    <p:extLst>
      <p:ext uri="{BB962C8B-B14F-4D97-AF65-F5344CB8AC3E}">
        <p14:creationId xmlns:p14="http://schemas.microsoft.com/office/powerpoint/2010/main" val="5799352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B76661-CA76-F328-1C4D-4CD0AC70934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D8C6E41-00DF-8CB0-100E-D517FBD14E3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4A83CD-D816-BFA5-6845-DD4482D49460}"/>
              </a:ext>
            </a:extLst>
          </p:cNvPr>
          <p:cNvSpPr>
            <a:spLocks noGrp="1"/>
          </p:cNvSpPr>
          <p:nvPr>
            <p:ph type="dt" sz="half" idx="10"/>
          </p:nvPr>
        </p:nvSpPr>
        <p:spPr/>
        <p:txBody>
          <a:bodyPr/>
          <a:lstStyle/>
          <a:p>
            <a:fld id="{32BA5666-C778-4D3F-A403-8D9F3995DD5E}" type="datetimeFigureOut">
              <a:rPr lang="en-US" smtClean="0"/>
              <a:t>8/11/2026</a:t>
            </a:fld>
            <a:endParaRPr lang="en-US"/>
          </a:p>
        </p:txBody>
      </p:sp>
      <p:sp>
        <p:nvSpPr>
          <p:cNvPr id="5" name="Footer Placeholder 4">
            <a:extLst>
              <a:ext uri="{FF2B5EF4-FFF2-40B4-BE49-F238E27FC236}">
                <a16:creationId xmlns:a16="http://schemas.microsoft.com/office/drawing/2014/main" id="{7A766BF9-F4AF-3936-096B-36740EC598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3BDB5E-2753-97FD-FF6C-FB509FB375DB}"/>
              </a:ext>
            </a:extLst>
          </p:cNvPr>
          <p:cNvSpPr>
            <a:spLocks noGrp="1"/>
          </p:cNvSpPr>
          <p:nvPr>
            <p:ph type="sldNum" sz="quarter" idx="12"/>
          </p:nvPr>
        </p:nvSpPr>
        <p:spPr/>
        <p:txBody>
          <a:bodyPr/>
          <a:lstStyle/>
          <a:p>
            <a:fld id="{29B6CBEE-9714-4BEA-A5A0-8A3984C77745}" type="slidenum">
              <a:rPr lang="en-US" smtClean="0"/>
              <a:t>‹#›</a:t>
            </a:fld>
            <a:endParaRPr lang="en-US"/>
          </a:p>
        </p:txBody>
      </p:sp>
    </p:spTree>
    <p:extLst>
      <p:ext uri="{BB962C8B-B14F-4D97-AF65-F5344CB8AC3E}">
        <p14:creationId xmlns:p14="http://schemas.microsoft.com/office/powerpoint/2010/main" val="9412016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43A72E-0EC1-A1AC-C8B5-EEAB200A1828}"/>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FCD4AFA0-2A35-C0AC-9608-4E852884BAF6}"/>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B59AF5B-2E69-A496-E7FC-E7B752F60458}"/>
              </a:ext>
            </a:extLst>
          </p:cNvPr>
          <p:cNvSpPr>
            <a:spLocks noGrp="1"/>
          </p:cNvSpPr>
          <p:nvPr>
            <p:ph type="dt" sz="half" idx="10"/>
          </p:nvPr>
        </p:nvSpPr>
        <p:spPr/>
        <p:txBody>
          <a:bodyPr/>
          <a:lstStyle/>
          <a:p>
            <a:fld id="{32BA5666-C778-4D3F-A403-8D9F3995DD5E}" type="datetimeFigureOut">
              <a:rPr lang="en-US" smtClean="0"/>
              <a:t>8/11/2026</a:t>
            </a:fld>
            <a:endParaRPr lang="en-US"/>
          </a:p>
        </p:txBody>
      </p:sp>
      <p:sp>
        <p:nvSpPr>
          <p:cNvPr id="5" name="Footer Placeholder 4">
            <a:extLst>
              <a:ext uri="{FF2B5EF4-FFF2-40B4-BE49-F238E27FC236}">
                <a16:creationId xmlns:a16="http://schemas.microsoft.com/office/drawing/2014/main" id="{68C99B35-35FC-A6AF-CE44-DE4B86E3A5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CF7967-A0E0-79AC-051F-4D9DFE4A410F}"/>
              </a:ext>
            </a:extLst>
          </p:cNvPr>
          <p:cNvSpPr>
            <a:spLocks noGrp="1"/>
          </p:cNvSpPr>
          <p:nvPr>
            <p:ph type="sldNum" sz="quarter" idx="12"/>
          </p:nvPr>
        </p:nvSpPr>
        <p:spPr/>
        <p:txBody>
          <a:bodyPr/>
          <a:lstStyle/>
          <a:p>
            <a:fld id="{29B6CBEE-9714-4BEA-A5A0-8A3984C77745}" type="slidenum">
              <a:rPr lang="en-US" smtClean="0"/>
              <a:t>‹#›</a:t>
            </a:fld>
            <a:endParaRPr lang="en-US"/>
          </a:p>
        </p:txBody>
      </p:sp>
    </p:spTree>
    <p:extLst>
      <p:ext uri="{BB962C8B-B14F-4D97-AF65-F5344CB8AC3E}">
        <p14:creationId xmlns:p14="http://schemas.microsoft.com/office/powerpoint/2010/main" val="9085853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4F5B0F-9F16-AC72-5360-30650DD1DAF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7EFFC0C-F51D-AA66-0A04-864CB83E4F83}"/>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FF5E7F7-AC9F-DBD0-324B-6E9628AA5399}"/>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94D2C58-337D-4572-5C8C-41C957BC5EBA}"/>
              </a:ext>
            </a:extLst>
          </p:cNvPr>
          <p:cNvSpPr>
            <a:spLocks noGrp="1"/>
          </p:cNvSpPr>
          <p:nvPr>
            <p:ph type="dt" sz="half" idx="10"/>
          </p:nvPr>
        </p:nvSpPr>
        <p:spPr/>
        <p:txBody>
          <a:bodyPr/>
          <a:lstStyle/>
          <a:p>
            <a:fld id="{32BA5666-C778-4D3F-A403-8D9F3995DD5E}" type="datetimeFigureOut">
              <a:rPr lang="en-US" smtClean="0"/>
              <a:t>8/11/2026</a:t>
            </a:fld>
            <a:endParaRPr lang="en-US"/>
          </a:p>
        </p:txBody>
      </p:sp>
      <p:sp>
        <p:nvSpPr>
          <p:cNvPr id="6" name="Footer Placeholder 5">
            <a:extLst>
              <a:ext uri="{FF2B5EF4-FFF2-40B4-BE49-F238E27FC236}">
                <a16:creationId xmlns:a16="http://schemas.microsoft.com/office/drawing/2014/main" id="{B57DDD69-A32C-8B37-BF82-C9684DF1EF4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A188B1E-E2AA-4C38-8F18-2D81FEE0ABAA}"/>
              </a:ext>
            </a:extLst>
          </p:cNvPr>
          <p:cNvSpPr>
            <a:spLocks noGrp="1"/>
          </p:cNvSpPr>
          <p:nvPr>
            <p:ph type="sldNum" sz="quarter" idx="12"/>
          </p:nvPr>
        </p:nvSpPr>
        <p:spPr/>
        <p:txBody>
          <a:bodyPr/>
          <a:lstStyle/>
          <a:p>
            <a:fld id="{29B6CBEE-9714-4BEA-A5A0-8A3984C77745}" type="slidenum">
              <a:rPr lang="en-US" smtClean="0"/>
              <a:t>‹#›</a:t>
            </a:fld>
            <a:endParaRPr lang="en-US"/>
          </a:p>
        </p:txBody>
      </p:sp>
    </p:spTree>
    <p:extLst>
      <p:ext uri="{BB962C8B-B14F-4D97-AF65-F5344CB8AC3E}">
        <p14:creationId xmlns:p14="http://schemas.microsoft.com/office/powerpoint/2010/main" val="2088472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06231F-2B4B-F16E-EB4D-6E032CACB5D2}"/>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5446BCE-3B25-A85E-DFEE-7A640D7DA198}"/>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D930B276-293F-F6DE-0A8A-89E7898E3945}"/>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15889E5-A2B8-412D-F036-FDB75573223B}"/>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23D75793-582A-BC2F-E1C1-082AB4AACD8E}"/>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05492DA-6B3F-75F5-4E60-138067B7FC34}"/>
              </a:ext>
            </a:extLst>
          </p:cNvPr>
          <p:cNvSpPr>
            <a:spLocks noGrp="1"/>
          </p:cNvSpPr>
          <p:nvPr>
            <p:ph type="dt" sz="half" idx="10"/>
          </p:nvPr>
        </p:nvSpPr>
        <p:spPr/>
        <p:txBody>
          <a:bodyPr/>
          <a:lstStyle/>
          <a:p>
            <a:fld id="{32BA5666-C778-4D3F-A403-8D9F3995DD5E}" type="datetimeFigureOut">
              <a:rPr lang="en-US" smtClean="0"/>
              <a:t>8/11/2026</a:t>
            </a:fld>
            <a:endParaRPr lang="en-US"/>
          </a:p>
        </p:txBody>
      </p:sp>
      <p:sp>
        <p:nvSpPr>
          <p:cNvPr id="8" name="Footer Placeholder 7">
            <a:extLst>
              <a:ext uri="{FF2B5EF4-FFF2-40B4-BE49-F238E27FC236}">
                <a16:creationId xmlns:a16="http://schemas.microsoft.com/office/drawing/2014/main" id="{311F3FB3-CE0D-0D48-6765-0F5813CC822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2E2EB87-DDC2-4D7A-0216-665E1647580E}"/>
              </a:ext>
            </a:extLst>
          </p:cNvPr>
          <p:cNvSpPr>
            <a:spLocks noGrp="1"/>
          </p:cNvSpPr>
          <p:nvPr>
            <p:ph type="sldNum" sz="quarter" idx="12"/>
          </p:nvPr>
        </p:nvSpPr>
        <p:spPr/>
        <p:txBody>
          <a:bodyPr/>
          <a:lstStyle/>
          <a:p>
            <a:fld id="{29B6CBEE-9714-4BEA-A5A0-8A3984C77745}" type="slidenum">
              <a:rPr lang="en-US" smtClean="0"/>
              <a:t>‹#›</a:t>
            </a:fld>
            <a:endParaRPr lang="en-US"/>
          </a:p>
        </p:txBody>
      </p:sp>
    </p:spTree>
    <p:extLst>
      <p:ext uri="{BB962C8B-B14F-4D97-AF65-F5344CB8AC3E}">
        <p14:creationId xmlns:p14="http://schemas.microsoft.com/office/powerpoint/2010/main" val="11897962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BAF6A-6F2A-BEC4-FA64-ED89DA82AFE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7712E37-791A-33A8-0881-4039FDFDB030}"/>
              </a:ext>
            </a:extLst>
          </p:cNvPr>
          <p:cNvSpPr>
            <a:spLocks noGrp="1"/>
          </p:cNvSpPr>
          <p:nvPr>
            <p:ph type="dt" sz="half" idx="10"/>
          </p:nvPr>
        </p:nvSpPr>
        <p:spPr/>
        <p:txBody>
          <a:bodyPr/>
          <a:lstStyle/>
          <a:p>
            <a:fld id="{32BA5666-C778-4D3F-A403-8D9F3995DD5E}" type="datetimeFigureOut">
              <a:rPr lang="en-US" smtClean="0"/>
              <a:t>8/11/2026</a:t>
            </a:fld>
            <a:endParaRPr lang="en-US"/>
          </a:p>
        </p:txBody>
      </p:sp>
      <p:sp>
        <p:nvSpPr>
          <p:cNvPr id="4" name="Footer Placeholder 3">
            <a:extLst>
              <a:ext uri="{FF2B5EF4-FFF2-40B4-BE49-F238E27FC236}">
                <a16:creationId xmlns:a16="http://schemas.microsoft.com/office/drawing/2014/main" id="{B8C8B16A-F0EF-59D9-FC45-D32C59DB993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B327BBF-B1BD-F772-6C28-993989BECF7C}"/>
              </a:ext>
            </a:extLst>
          </p:cNvPr>
          <p:cNvSpPr>
            <a:spLocks noGrp="1"/>
          </p:cNvSpPr>
          <p:nvPr>
            <p:ph type="sldNum" sz="quarter" idx="12"/>
          </p:nvPr>
        </p:nvSpPr>
        <p:spPr/>
        <p:txBody>
          <a:bodyPr/>
          <a:lstStyle/>
          <a:p>
            <a:fld id="{29B6CBEE-9714-4BEA-A5A0-8A3984C77745}" type="slidenum">
              <a:rPr lang="en-US" smtClean="0"/>
              <a:t>‹#›</a:t>
            </a:fld>
            <a:endParaRPr lang="en-US"/>
          </a:p>
        </p:txBody>
      </p:sp>
    </p:spTree>
    <p:extLst>
      <p:ext uri="{BB962C8B-B14F-4D97-AF65-F5344CB8AC3E}">
        <p14:creationId xmlns:p14="http://schemas.microsoft.com/office/powerpoint/2010/main" val="16143263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4EF1B0D-35EF-A1DB-67B8-DC3A8D689799}"/>
              </a:ext>
            </a:extLst>
          </p:cNvPr>
          <p:cNvSpPr>
            <a:spLocks noGrp="1"/>
          </p:cNvSpPr>
          <p:nvPr>
            <p:ph type="dt" sz="half" idx="10"/>
          </p:nvPr>
        </p:nvSpPr>
        <p:spPr/>
        <p:txBody>
          <a:bodyPr/>
          <a:lstStyle/>
          <a:p>
            <a:fld id="{32BA5666-C778-4D3F-A403-8D9F3995DD5E}" type="datetimeFigureOut">
              <a:rPr lang="en-US" smtClean="0"/>
              <a:t>8/11/2026</a:t>
            </a:fld>
            <a:endParaRPr lang="en-US"/>
          </a:p>
        </p:txBody>
      </p:sp>
      <p:sp>
        <p:nvSpPr>
          <p:cNvPr id="3" name="Footer Placeholder 2">
            <a:extLst>
              <a:ext uri="{FF2B5EF4-FFF2-40B4-BE49-F238E27FC236}">
                <a16:creationId xmlns:a16="http://schemas.microsoft.com/office/drawing/2014/main" id="{D2CA5337-1F68-840B-35E7-1556BD3CA18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D151E55-D18D-587A-8545-EE87C61937AD}"/>
              </a:ext>
            </a:extLst>
          </p:cNvPr>
          <p:cNvSpPr>
            <a:spLocks noGrp="1"/>
          </p:cNvSpPr>
          <p:nvPr>
            <p:ph type="sldNum" sz="quarter" idx="12"/>
          </p:nvPr>
        </p:nvSpPr>
        <p:spPr/>
        <p:txBody>
          <a:bodyPr/>
          <a:lstStyle/>
          <a:p>
            <a:fld id="{29B6CBEE-9714-4BEA-A5A0-8A3984C77745}" type="slidenum">
              <a:rPr lang="en-US" smtClean="0"/>
              <a:t>‹#›</a:t>
            </a:fld>
            <a:endParaRPr lang="en-US"/>
          </a:p>
        </p:txBody>
      </p:sp>
    </p:spTree>
    <p:extLst>
      <p:ext uri="{BB962C8B-B14F-4D97-AF65-F5344CB8AC3E}">
        <p14:creationId xmlns:p14="http://schemas.microsoft.com/office/powerpoint/2010/main" val="18734542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CAB8E2-1EC6-EA9B-D3DF-40F5A36327F6}"/>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DC24FF0A-FAFB-CA11-86C4-317CF2D27EA5}"/>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6A877AD-A0A4-A56C-1856-BF2B416AE07B}"/>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16C5713F-E2BD-71F5-AD40-4E5CC9102D2B}"/>
              </a:ext>
            </a:extLst>
          </p:cNvPr>
          <p:cNvSpPr>
            <a:spLocks noGrp="1"/>
          </p:cNvSpPr>
          <p:nvPr>
            <p:ph type="dt" sz="half" idx="10"/>
          </p:nvPr>
        </p:nvSpPr>
        <p:spPr/>
        <p:txBody>
          <a:bodyPr/>
          <a:lstStyle/>
          <a:p>
            <a:fld id="{32BA5666-C778-4D3F-A403-8D9F3995DD5E}" type="datetimeFigureOut">
              <a:rPr lang="en-US" smtClean="0"/>
              <a:t>8/11/2026</a:t>
            </a:fld>
            <a:endParaRPr lang="en-US"/>
          </a:p>
        </p:txBody>
      </p:sp>
      <p:sp>
        <p:nvSpPr>
          <p:cNvPr id="6" name="Footer Placeholder 5">
            <a:extLst>
              <a:ext uri="{FF2B5EF4-FFF2-40B4-BE49-F238E27FC236}">
                <a16:creationId xmlns:a16="http://schemas.microsoft.com/office/drawing/2014/main" id="{5F1659C7-7270-E47D-CBAE-7D4043299A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289469A-AA28-F04A-B192-0E33DCF216A8}"/>
              </a:ext>
            </a:extLst>
          </p:cNvPr>
          <p:cNvSpPr>
            <a:spLocks noGrp="1"/>
          </p:cNvSpPr>
          <p:nvPr>
            <p:ph type="sldNum" sz="quarter" idx="12"/>
          </p:nvPr>
        </p:nvSpPr>
        <p:spPr/>
        <p:txBody>
          <a:bodyPr/>
          <a:lstStyle/>
          <a:p>
            <a:fld id="{29B6CBEE-9714-4BEA-A5A0-8A3984C77745}" type="slidenum">
              <a:rPr lang="en-US" smtClean="0"/>
              <a:t>‹#›</a:t>
            </a:fld>
            <a:endParaRPr lang="en-US"/>
          </a:p>
        </p:txBody>
      </p:sp>
    </p:spTree>
    <p:extLst>
      <p:ext uri="{BB962C8B-B14F-4D97-AF65-F5344CB8AC3E}">
        <p14:creationId xmlns:p14="http://schemas.microsoft.com/office/powerpoint/2010/main" val="399708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F8C3C2-5623-68AF-3308-617EFB355EA8}"/>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75FE3D77-3F7A-A3BB-B138-19105F63F7FA}"/>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3B413B8A-ECF0-40AB-6FF1-E1E734756543}"/>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5CC5D4C7-D451-7C71-30FF-86AC1B6BFBAD}"/>
              </a:ext>
            </a:extLst>
          </p:cNvPr>
          <p:cNvSpPr>
            <a:spLocks noGrp="1"/>
          </p:cNvSpPr>
          <p:nvPr>
            <p:ph type="dt" sz="half" idx="10"/>
          </p:nvPr>
        </p:nvSpPr>
        <p:spPr/>
        <p:txBody>
          <a:bodyPr/>
          <a:lstStyle/>
          <a:p>
            <a:fld id="{32BA5666-C778-4D3F-A403-8D9F3995DD5E}" type="datetimeFigureOut">
              <a:rPr lang="en-US" smtClean="0"/>
              <a:t>8/11/2026</a:t>
            </a:fld>
            <a:endParaRPr lang="en-US"/>
          </a:p>
        </p:txBody>
      </p:sp>
      <p:sp>
        <p:nvSpPr>
          <p:cNvPr id="6" name="Footer Placeholder 5">
            <a:extLst>
              <a:ext uri="{FF2B5EF4-FFF2-40B4-BE49-F238E27FC236}">
                <a16:creationId xmlns:a16="http://schemas.microsoft.com/office/drawing/2014/main" id="{F6CA851F-0328-5037-1A17-6B730DADBDF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F97CEC-1AF4-F99D-FA3B-61085219C5C1}"/>
              </a:ext>
            </a:extLst>
          </p:cNvPr>
          <p:cNvSpPr>
            <a:spLocks noGrp="1"/>
          </p:cNvSpPr>
          <p:nvPr>
            <p:ph type="sldNum" sz="quarter" idx="12"/>
          </p:nvPr>
        </p:nvSpPr>
        <p:spPr/>
        <p:txBody>
          <a:bodyPr/>
          <a:lstStyle/>
          <a:p>
            <a:fld id="{29B6CBEE-9714-4BEA-A5A0-8A3984C77745}" type="slidenum">
              <a:rPr lang="en-US" smtClean="0"/>
              <a:t>‹#›</a:t>
            </a:fld>
            <a:endParaRPr lang="en-US"/>
          </a:p>
        </p:txBody>
      </p:sp>
    </p:spTree>
    <p:extLst>
      <p:ext uri="{BB962C8B-B14F-4D97-AF65-F5344CB8AC3E}">
        <p14:creationId xmlns:p14="http://schemas.microsoft.com/office/powerpoint/2010/main" val="1132505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A7CABF-194B-2DA6-7ED0-61D244CB1C1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6B2DB0A-D489-A12D-F5E6-AA6B9E56868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7E7F3B-4710-5465-677B-56FAC927B366}"/>
              </a:ext>
            </a:extLst>
          </p:cNvPr>
          <p:cNvSpPr>
            <a:spLocks noGrp="1"/>
          </p:cNvSpPr>
          <p:nvPr>
            <p:ph type="dt" sz="half" idx="10"/>
          </p:nvPr>
        </p:nvSpPr>
        <p:spPr/>
        <p:txBody>
          <a:bodyPr/>
          <a:lstStyle/>
          <a:p>
            <a:fld id="{32BA5666-C778-4D3F-A403-8D9F3995DD5E}" type="datetimeFigureOut">
              <a:rPr lang="en-US" smtClean="0"/>
              <a:t>8/11/2026</a:t>
            </a:fld>
            <a:endParaRPr lang="en-US"/>
          </a:p>
        </p:txBody>
      </p:sp>
      <p:sp>
        <p:nvSpPr>
          <p:cNvPr id="5" name="Footer Placeholder 4">
            <a:extLst>
              <a:ext uri="{FF2B5EF4-FFF2-40B4-BE49-F238E27FC236}">
                <a16:creationId xmlns:a16="http://schemas.microsoft.com/office/drawing/2014/main" id="{DA007EEB-FF46-EB7A-7407-A06BB7436B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2CF4C2-FCB6-B801-6E61-17B61FD3B18A}"/>
              </a:ext>
            </a:extLst>
          </p:cNvPr>
          <p:cNvSpPr>
            <a:spLocks noGrp="1"/>
          </p:cNvSpPr>
          <p:nvPr>
            <p:ph type="sldNum" sz="quarter" idx="12"/>
          </p:nvPr>
        </p:nvSpPr>
        <p:spPr/>
        <p:txBody>
          <a:bodyPr/>
          <a:lstStyle/>
          <a:p>
            <a:fld id="{29B6CBEE-9714-4BEA-A5A0-8A3984C77745}" type="slidenum">
              <a:rPr lang="en-US" smtClean="0"/>
              <a:t>‹#›</a:t>
            </a:fld>
            <a:endParaRPr lang="en-US"/>
          </a:p>
        </p:txBody>
      </p:sp>
    </p:spTree>
    <p:extLst>
      <p:ext uri="{BB962C8B-B14F-4D97-AF65-F5344CB8AC3E}">
        <p14:creationId xmlns:p14="http://schemas.microsoft.com/office/powerpoint/2010/main" val="30275217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96AEFE1-748C-56D0-3E5C-4157BD9E7AFD}"/>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7579731-ADED-C8F6-2125-E981722748FB}"/>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6C04CF-F471-1E8D-2AA9-2C7F2543A519}"/>
              </a:ext>
            </a:extLst>
          </p:cNvPr>
          <p:cNvSpPr>
            <a:spLocks noGrp="1"/>
          </p:cNvSpPr>
          <p:nvPr>
            <p:ph type="dt" sz="half" idx="10"/>
          </p:nvPr>
        </p:nvSpPr>
        <p:spPr/>
        <p:txBody>
          <a:bodyPr/>
          <a:lstStyle/>
          <a:p>
            <a:fld id="{32BA5666-C778-4D3F-A403-8D9F3995DD5E}" type="datetimeFigureOut">
              <a:rPr lang="en-US" smtClean="0"/>
              <a:t>8/11/2026</a:t>
            </a:fld>
            <a:endParaRPr lang="en-US"/>
          </a:p>
        </p:txBody>
      </p:sp>
      <p:sp>
        <p:nvSpPr>
          <p:cNvPr id="5" name="Footer Placeholder 4">
            <a:extLst>
              <a:ext uri="{FF2B5EF4-FFF2-40B4-BE49-F238E27FC236}">
                <a16:creationId xmlns:a16="http://schemas.microsoft.com/office/drawing/2014/main" id="{2533CD14-60CB-6460-E834-A1DAAC0B8B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33F463-6442-349D-BC16-92EF7AC87B51}"/>
              </a:ext>
            </a:extLst>
          </p:cNvPr>
          <p:cNvSpPr>
            <a:spLocks noGrp="1"/>
          </p:cNvSpPr>
          <p:nvPr>
            <p:ph type="sldNum" sz="quarter" idx="12"/>
          </p:nvPr>
        </p:nvSpPr>
        <p:spPr/>
        <p:txBody>
          <a:bodyPr/>
          <a:lstStyle/>
          <a:p>
            <a:fld id="{29B6CBEE-9714-4BEA-A5A0-8A3984C77745}" type="slidenum">
              <a:rPr lang="en-US" smtClean="0"/>
              <a:t>‹#›</a:t>
            </a:fld>
            <a:endParaRPr lang="en-US"/>
          </a:p>
        </p:txBody>
      </p:sp>
    </p:spTree>
    <p:extLst>
      <p:ext uri="{BB962C8B-B14F-4D97-AF65-F5344CB8AC3E}">
        <p14:creationId xmlns:p14="http://schemas.microsoft.com/office/powerpoint/2010/main" val="228573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1E438F8-A4A8-0326-9748-623913A1ABD2}"/>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D7C39A4-98FE-FC92-9347-A847F55BEAA0}"/>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61417D-502C-F3E6-2D92-0957D1F9CB95}"/>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32BA5666-C778-4D3F-A403-8D9F3995DD5E}" type="datetimeFigureOut">
              <a:rPr lang="en-US" smtClean="0"/>
              <a:t>8/11/2026</a:t>
            </a:fld>
            <a:endParaRPr lang="en-US"/>
          </a:p>
        </p:txBody>
      </p:sp>
      <p:sp>
        <p:nvSpPr>
          <p:cNvPr id="5" name="Footer Placeholder 4">
            <a:extLst>
              <a:ext uri="{FF2B5EF4-FFF2-40B4-BE49-F238E27FC236}">
                <a16:creationId xmlns:a16="http://schemas.microsoft.com/office/drawing/2014/main" id="{D059FEE0-7A34-1954-DA54-58E6D14442F7}"/>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93076FF-A441-4284-47BC-DE4461ED440C}"/>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29B6CBEE-9714-4BEA-A5A0-8A3984C77745}" type="slidenum">
              <a:rPr lang="en-US" smtClean="0"/>
              <a:t>‹#›</a:t>
            </a:fld>
            <a:endParaRPr lang="en-US"/>
          </a:p>
        </p:txBody>
      </p:sp>
    </p:spTree>
    <p:extLst>
      <p:ext uri="{BB962C8B-B14F-4D97-AF65-F5344CB8AC3E}">
        <p14:creationId xmlns:p14="http://schemas.microsoft.com/office/powerpoint/2010/main" val="250286044"/>
      </p:ext>
    </p:extLst>
  </p:cSld>
  <p:clrMap bg1="lt1" tx1="dk1" bg2="lt2" tx2="dk2" accent1="accent1" accent2="accent2" accent3="accent3" accent4="accent4" accent5="accent5" accent6="accent6" hlink="hlink" folHlink="folHlink"/>
  <p:sldLayoutIdLst>
    <p:sldLayoutId id="2147484852" r:id="rId1"/>
    <p:sldLayoutId id="2147484853" r:id="rId2"/>
    <p:sldLayoutId id="2147484854" r:id="rId3"/>
    <p:sldLayoutId id="2147484855" r:id="rId4"/>
    <p:sldLayoutId id="2147484856" r:id="rId5"/>
    <p:sldLayoutId id="2147484857" r:id="rId6"/>
    <p:sldLayoutId id="2147484858" r:id="rId7"/>
    <p:sldLayoutId id="2147484859" r:id="rId8"/>
    <p:sldLayoutId id="2147484860" r:id="rId9"/>
    <p:sldLayoutId id="2147484861" r:id="rId10"/>
    <p:sldLayoutId id="2147484862"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ustomXml" Target="../ink/ink1.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29793" y="383892"/>
            <a:ext cx="8170660" cy="2585323"/>
          </a:xfrm>
          <a:prstGeom prst="rect">
            <a:avLst/>
          </a:prstGeom>
        </p:spPr>
        <p:txBody>
          <a:bodyPr wrap="square">
            <a:spAutoFit/>
          </a:bodyPr>
          <a:lstStyle/>
          <a:p>
            <a:pPr lvl="0" algn="ctr" eaLnBrk="0" fontAlgn="base" hangingPunct="0">
              <a:spcBef>
                <a:spcPct val="0"/>
              </a:spcBef>
              <a:spcAft>
                <a:spcPct val="0"/>
              </a:spcAft>
            </a:pPr>
            <a:r>
              <a:rPr lang="en-US" altLang="en-US" b="1" dirty="0">
                <a:latin typeface="Times New Roman" panose="02020603050405020304" pitchFamily="18" charset="0"/>
                <a:ea typeface="Times New Roman" panose="02020603050405020304" pitchFamily="18" charset="0"/>
                <a:cs typeface="Times New Roman" panose="02020603050405020304" pitchFamily="18" charset="0"/>
              </a:rPr>
              <a:t>ANNAMACHARYA INSTITUTE OF TECHNOLOGY AND SCIENCES, RAJAMPET</a:t>
            </a:r>
            <a:endParaRPr lang="en-US" altLang="en-US" dirty="0">
              <a:latin typeface="Times New Roman" panose="02020603050405020304" pitchFamily="18" charset="0"/>
              <a:cs typeface="Times New Roman" panose="02020603050405020304" pitchFamily="18" charset="0"/>
            </a:endParaRPr>
          </a:p>
          <a:p>
            <a:pPr lvl="0" algn="ctr" eaLnBrk="0" fontAlgn="base" hangingPunct="0">
              <a:spcBef>
                <a:spcPct val="0"/>
              </a:spcBef>
              <a:spcAft>
                <a:spcPct val="0"/>
              </a:spcAft>
            </a:pPr>
            <a:r>
              <a:rPr lang="en-US" altLang="en-US" b="1" dirty="0">
                <a:latin typeface="Times New Roman" panose="02020603050405020304" pitchFamily="18" charset="0"/>
                <a:ea typeface="Times New Roman" panose="02020603050405020304" pitchFamily="18" charset="0"/>
                <a:cs typeface="Times New Roman" panose="02020603050405020304" pitchFamily="18" charset="0"/>
              </a:rPr>
              <a:t>(AN AUTONOMOUS INSTITUTION)</a:t>
            </a:r>
          </a:p>
          <a:p>
            <a:pPr lvl="0" algn="ctr" eaLnBrk="0" fontAlgn="base" hangingPunct="0">
              <a:spcBef>
                <a:spcPct val="0"/>
              </a:spcBef>
              <a:spcAft>
                <a:spcPct val="0"/>
              </a:spcAft>
            </a:pPr>
            <a:endParaRPr lang="en-US" altLang="en-US"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endParaRPr>
          </a:p>
          <a:p>
            <a:pPr lvl="0" algn="ctr" eaLnBrk="0" fontAlgn="base" hangingPunct="0">
              <a:spcBef>
                <a:spcPct val="0"/>
              </a:spcBef>
              <a:spcAft>
                <a:spcPct val="0"/>
              </a:spcAft>
            </a:pPr>
            <a:r>
              <a:rPr lang="en-US" altLang="en-US" b="1" dirty="0">
                <a:latin typeface="Times New Roman" panose="02020603050405020304" pitchFamily="18" charset="0"/>
                <a:ea typeface="Times New Roman" panose="02020603050405020304" pitchFamily="18" charset="0"/>
                <a:cs typeface="Times New Roman" panose="02020603050405020304" pitchFamily="18" charset="0"/>
              </a:rPr>
              <a:t>DEPARTMENT OF</a:t>
            </a:r>
            <a:r>
              <a:rPr lang="en-IN" altLang="en-US" b="1" dirty="0">
                <a:latin typeface="Times New Roman" panose="02020603050405020304" pitchFamily="18" charset="0"/>
                <a:ea typeface="Times New Roman" panose="02020603050405020304" pitchFamily="18" charset="0"/>
                <a:cs typeface="Times New Roman" panose="02020603050405020304" pitchFamily="18" charset="0"/>
              </a:rPr>
              <a:t> ARTIFICIAL INTELLIGENCE AND DATA SCIENCE</a:t>
            </a:r>
            <a:endParaRPr lang="en-US" altLang="en-US" dirty="0">
              <a:latin typeface="Times New Roman" panose="02020603050405020304" pitchFamily="18" charset="0"/>
              <a:cs typeface="Times New Roman" panose="02020603050405020304" pitchFamily="18" charset="0"/>
            </a:endParaRPr>
          </a:p>
          <a:p>
            <a:pPr algn="ct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A Project </a:t>
            </a:r>
            <a:r>
              <a:rPr lang="en-US">
                <a:latin typeface="Times New Roman" panose="02020603050405020304" pitchFamily="18" charset="0"/>
                <a:cs typeface="Times New Roman" panose="02020603050405020304" pitchFamily="18" charset="0"/>
              </a:rPr>
              <a:t>Review on</a:t>
            </a:r>
          </a:p>
          <a:p>
            <a:pPr algn="ctr"/>
            <a:endParaRPr lang="en-US" b="1">
              <a:latin typeface="Times New Roman" panose="02020603050405020304" pitchFamily="18" charset="0"/>
              <a:cs typeface="Times New Roman" panose="02020603050405020304" pitchFamily="18" charset="0"/>
            </a:endParaRPr>
          </a:p>
          <a:p>
            <a:pPr algn="ctr"/>
            <a:r>
              <a:rPr lang="en-IN">
                <a:latin typeface="Times New Roman" panose="02020603050405020304" pitchFamily="18" charset="0"/>
                <a:cs typeface="Times New Roman" panose="02020603050405020304" pitchFamily="18" charset="0"/>
              </a:rPr>
              <a:t>Interactive AI Assistant for Automated SQL Queries and Data Visualization</a:t>
            </a:r>
          </a:p>
        </p:txBody>
      </p:sp>
      <p:sp>
        <p:nvSpPr>
          <p:cNvPr id="3" name="Rectangle 2"/>
          <p:cNvSpPr/>
          <p:nvPr/>
        </p:nvSpPr>
        <p:spPr>
          <a:xfrm>
            <a:off x="275902" y="4843989"/>
            <a:ext cx="4439221" cy="1569660"/>
          </a:xfrm>
          <a:prstGeom prst="rect">
            <a:avLst/>
          </a:prstGeom>
        </p:spPr>
        <p:txBody>
          <a:bodyPr wrap="square">
            <a:spAutoFit/>
          </a:bodyPr>
          <a:lstStyle/>
          <a:p>
            <a:pPr algn="ctr"/>
            <a:r>
              <a:rPr lang="en-US" sz="1600" b="1" dirty="0">
                <a:latin typeface="Times New Roman" panose="02020603050405020304" pitchFamily="18" charset="0"/>
                <a:cs typeface="Times New Roman" panose="02020603050405020304" pitchFamily="18" charset="0"/>
              </a:rPr>
              <a:t>Under the Esteemed Guidance of</a:t>
            </a:r>
          </a:p>
          <a:p>
            <a:pPr algn="ctr"/>
            <a:r>
              <a:rPr lang="en-US" sz="1600" dirty="0">
                <a:latin typeface="Times New Roman" panose="02020603050405020304" pitchFamily="18" charset="0"/>
                <a:cs typeface="Times New Roman" panose="02020603050405020304" pitchFamily="18" charset="0"/>
              </a:rPr>
              <a:t>Guide Name </a:t>
            </a:r>
          </a:p>
          <a:p>
            <a:pPr algn="ctr"/>
            <a:r>
              <a:rPr lang="en-US" sz="1600" dirty="0">
                <a:latin typeface="Times New Roman" panose="02020603050405020304" pitchFamily="18" charset="0"/>
                <a:cs typeface="Times New Roman" panose="02020603050405020304" pitchFamily="18" charset="0"/>
              </a:rPr>
              <a:t>Assistant Professor </a:t>
            </a:r>
          </a:p>
          <a:p>
            <a:pPr algn="ctr"/>
            <a:r>
              <a:rPr lang="en-US" sz="1600" dirty="0">
                <a:latin typeface="Times New Roman" panose="02020603050405020304" pitchFamily="18" charset="0"/>
                <a:cs typeface="Times New Roman" panose="02020603050405020304" pitchFamily="18" charset="0"/>
              </a:rPr>
              <a:t>Department of Artificial Intelligence &amp; Data Science</a:t>
            </a:r>
          </a:p>
          <a:p>
            <a:pPr algn="ctr"/>
            <a:r>
              <a:rPr lang="en-US" sz="1600" dirty="0">
                <a:latin typeface="Times New Roman" panose="02020603050405020304" pitchFamily="18" charset="0"/>
                <a:cs typeface="Times New Roman" panose="02020603050405020304" pitchFamily="18" charset="0"/>
              </a:rPr>
              <a:t>Rajampet, Andhra Pradesh</a:t>
            </a:r>
          </a:p>
        </p:txBody>
      </p:sp>
      <p:sp>
        <p:nvSpPr>
          <p:cNvPr id="4" name="Rectangle 3"/>
          <p:cNvSpPr/>
          <p:nvPr/>
        </p:nvSpPr>
        <p:spPr>
          <a:xfrm>
            <a:off x="3950208" y="4843989"/>
            <a:ext cx="4981500" cy="1923604"/>
          </a:xfrm>
          <a:prstGeom prst="rect">
            <a:avLst/>
          </a:prstGeom>
        </p:spPr>
        <p:txBody>
          <a:bodyPr wrap="square">
            <a:spAutoFit/>
          </a:bodyPr>
          <a:lstStyle/>
          <a:p>
            <a:pPr algn="ctr">
              <a:spcAft>
                <a:spcPts val="600"/>
              </a:spcAft>
            </a:pPr>
            <a:r>
              <a:rPr lang="en-US" b="1" i="1" dirty="0">
                <a:latin typeface="Times New Roman" panose="02020603050405020304" pitchFamily="18" charset="0"/>
                <a:cs typeface="Times New Roman" panose="02020603050405020304" pitchFamily="18" charset="0"/>
              </a:rPr>
              <a:t>Presented by</a:t>
            </a:r>
          </a:p>
          <a:p>
            <a:r>
              <a:rPr lang="en-GB" altLang="en-IN" sz="1600" dirty="0">
                <a:solidFill>
                  <a:schemeClr val="tx1">
                    <a:lumMod val="50000"/>
                    <a:lumOff val="50000"/>
                  </a:schemeClr>
                </a:solidFill>
                <a:latin typeface="Times New Roman" panose="02020603050405020304" pitchFamily="18" charset="0"/>
                <a:cs typeface="Times New Roman" panose="02020603050405020304" pitchFamily="18" charset="0"/>
              </a:rPr>
              <a:t>                   </a:t>
            </a:r>
            <a:r>
              <a:rPr lang="en-IN" sz="1600" dirty="0"/>
              <a:t>Teammate 1</a:t>
            </a:r>
            <a:r>
              <a:rPr lang="en-IN" sz="1600" dirty="0">
                <a:latin typeface="Times New Roman" panose="02020603050405020304" pitchFamily="18" charset="0"/>
                <a:cs typeface="Times New Roman" panose="02020603050405020304" pitchFamily="18" charset="0"/>
              </a:rPr>
              <a:t>(H.T No) </a:t>
            </a:r>
          </a:p>
          <a:p>
            <a:r>
              <a:rPr lang="en-IN" sz="1600" dirty="0">
                <a:latin typeface="Times New Roman" panose="02020603050405020304" pitchFamily="18" charset="0"/>
                <a:cs typeface="Times New Roman" panose="02020603050405020304" pitchFamily="18" charset="0"/>
              </a:rPr>
              <a:t>	 </a:t>
            </a:r>
            <a:r>
              <a:rPr lang="en-IN" sz="1600" dirty="0"/>
              <a:t>Teammate 2</a:t>
            </a:r>
            <a:r>
              <a:rPr lang="en-IN" sz="1600" dirty="0">
                <a:latin typeface="Times New Roman" panose="02020603050405020304" pitchFamily="18" charset="0"/>
                <a:cs typeface="Times New Roman" panose="02020603050405020304" pitchFamily="18" charset="0"/>
              </a:rPr>
              <a:t>(H.T No) </a:t>
            </a:r>
          </a:p>
          <a:p>
            <a:r>
              <a:rPr lang="en-IN" sz="1600" dirty="0">
                <a:latin typeface="Times New Roman" panose="02020603050405020304" pitchFamily="18" charset="0"/>
                <a:cs typeface="Times New Roman" panose="02020603050405020304" pitchFamily="18" charset="0"/>
              </a:rPr>
              <a:t>	 </a:t>
            </a:r>
            <a:r>
              <a:rPr lang="en-IN" sz="1600" dirty="0"/>
              <a:t>Teammate 3</a:t>
            </a:r>
            <a:r>
              <a:rPr lang="en-IN" sz="1600" dirty="0">
                <a:latin typeface="Times New Roman" panose="02020603050405020304" pitchFamily="18" charset="0"/>
                <a:cs typeface="Times New Roman" panose="02020603050405020304" pitchFamily="18" charset="0"/>
              </a:rPr>
              <a:t>(H.T No)</a:t>
            </a:r>
          </a:p>
          <a:p>
            <a:r>
              <a:rPr lang="en-IN" sz="1600" dirty="0">
                <a:latin typeface="Times New Roman" panose="02020603050405020304" pitchFamily="18" charset="0"/>
                <a:cs typeface="Times New Roman" panose="02020603050405020304" pitchFamily="18" charset="0"/>
              </a:rPr>
              <a:t> 	 </a:t>
            </a:r>
            <a:r>
              <a:rPr lang="en-IN" sz="1600" dirty="0"/>
              <a:t>Teammate 4</a:t>
            </a:r>
            <a:r>
              <a:rPr lang="en-IN" sz="1600" dirty="0">
                <a:latin typeface="Times New Roman" panose="02020603050405020304" pitchFamily="18" charset="0"/>
                <a:cs typeface="Times New Roman" panose="02020603050405020304" pitchFamily="18" charset="0"/>
              </a:rPr>
              <a:t>(H.T No) </a:t>
            </a:r>
          </a:p>
          <a:p>
            <a:r>
              <a:rPr lang="en-IN" sz="1600" dirty="0">
                <a:latin typeface="Times New Roman" panose="02020603050405020304" pitchFamily="18" charset="0"/>
                <a:cs typeface="Times New Roman" panose="02020603050405020304" pitchFamily="18" charset="0"/>
              </a:rPr>
              <a:t>	 </a:t>
            </a:r>
            <a:r>
              <a:rPr lang="en-IN" sz="1600" dirty="0"/>
              <a:t>Teammate 5</a:t>
            </a:r>
            <a:r>
              <a:rPr lang="en-IN" sz="1600" dirty="0">
                <a:latin typeface="Times New Roman" panose="02020603050405020304" pitchFamily="18" charset="0"/>
                <a:cs typeface="Times New Roman" panose="02020603050405020304" pitchFamily="18" charset="0"/>
              </a:rPr>
              <a:t>(H.T No) </a:t>
            </a:r>
          </a:p>
          <a:p>
            <a:endParaRPr lang="en-IN" sz="16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DC06EC6B-6550-5741-5691-C16AF76CBBB9}"/>
              </a:ext>
            </a:extLst>
          </p:cNvPr>
          <p:cNvPicPr>
            <a:picLocks noChangeAspect="1"/>
          </p:cNvPicPr>
          <p:nvPr/>
        </p:nvPicPr>
        <p:blipFill>
          <a:blip r:embed="rId2"/>
          <a:stretch>
            <a:fillRect/>
          </a:stretch>
        </p:blipFill>
        <p:spPr>
          <a:xfrm>
            <a:off x="3809851" y="3327400"/>
            <a:ext cx="1524000" cy="1354216"/>
          </a:xfrm>
          <a:prstGeom prst="rect">
            <a:avLst/>
          </a:prstGeom>
        </p:spPr>
      </p:pic>
    </p:spTree>
    <p:extLst>
      <p:ext uri="{BB962C8B-B14F-4D97-AF65-F5344CB8AC3E}">
        <p14:creationId xmlns:p14="http://schemas.microsoft.com/office/powerpoint/2010/main" val="32523800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04568" y="285995"/>
            <a:ext cx="2133600" cy="461665"/>
          </a:xfrm>
          <a:prstGeom prst="rect">
            <a:avLst/>
          </a:prstGeom>
        </p:spPr>
        <p:txBody>
          <a:bodyPr wrap="square">
            <a:spAutoFit/>
          </a:bodyPr>
          <a:lstStyle/>
          <a:p>
            <a:r>
              <a:rPr lang="en-IN" sz="2400" b="1" dirty="0">
                <a:solidFill>
                  <a:schemeClr val="tx1"/>
                </a:solidFill>
                <a:latin typeface="Times New Roman" panose="02020603050405020304" pitchFamily="18" charset="0"/>
                <a:cs typeface="Times New Roman" panose="02020603050405020304" pitchFamily="18" charset="0"/>
              </a:rPr>
              <a:t>CONTENTS</a:t>
            </a:r>
            <a:endParaRPr lang="en-US" sz="2400" dirty="0"/>
          </a:p>
        </p:txBody>
      </p:sp>
      <p:sp>
        <p:nvSpPr>
          <p:cNvPr id="4" name="TextBox 3">
            <a:extLst>
              <a:ext uri="{FF2B5EF4-FFF2-40B4-BE49-F238E27FC236}">
                <a16:creationId xmlns:a16="http://schemas.microsoft.com/office/drawing/2014/main" id="{41DEFF3D-0B06-A413-097F-D58F419E53BB}"/>
              </a:ext>
            </a:extLst>
          </p:cNvPr>
          <p:cNvSpPr txBox="1"/>
          <p:nvPr/>
        </p:nvSpPr>
        <p:spPr>
          <a:xfrm>
            <a:off x="879987" y="703943"/>
            <a:ext cx="7384026" cy="5538504"/>
          </a:xfrm>
          <a:prstGeom prst="rect">
            <a:avLst/>
          </a:prstGeom>
          <a:noFill/>
        </p:spPr>
        <p:txBody>
          <a:bodyPr wrap="square" rtlCol="0">
            <a:spAutoFit/>
          </a:bodyPr>
          <a:lstStyle/>
          <a:p>
            <a:pPr marL="285750" indent="-285750">
              <a:lnSpc>
                <a:spcPct val="20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Title</a:t>
            </a:r>
          </a:p>
          <a:p>
            <a:pPr marL="285750" indent="-285750">
              <a:lnSpc>
                <a:spcPct val="20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Abstract</a:t>
            </a:r>
          </a:p>
          <a:p>
            <a:pPr marL="285750" indent="-285750">
              <a:lnSpc>
                <a:spcPct val="20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Existing System</a:t>
            </a:r>
          </a:p>
          <a:p>
            <a:pPr marL="285750" indent="-285750">
              <a:lnSpc>
                <a:spcPct val="20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Limitations of  Existing System</a:t>
            </a:r>
          </a:p>
          <a:p>
            <a:pPr marL="285750" indent="-285750">
              <a:lnSpc>
                <a:spcPct val="20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Proposed System</a:t>
            </a:r>
          </a:p>
          <a:p>
            <a:pPr marL="285750" indent="-285750">
              <a:lnSpc>
                <a:spcPct val="20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Advantages of Proposed System</a:t>
            </a:r>
          </a:p>
          <a:p>
            <a:pPr marL="285750" indent="-285750">
              <a:lnSpc>
                <a:spcPct val="20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Software Requirements</a:t>
            </a:r>
          </a:p>
          <a:p>
            <a:pPr marL="285750" indent="-285750">
              <a:lnSpc>
                <a:spcPct val="200000"/>
              </a:lnSpc>
              <a:buFont typeface="Wingdings" panose="05000000000000000000" pitchFamily="2" charset="2"/>
              <a:buChar char="Ø"/>
            </a:pPr>
            <a:r>
              <a:rPr lang="en-US" sz="2000">
                <a:latin typeface="Times New Roman" panose="02020603050405020304" pitchFamily="18" charset="0"/>
                <a:cs typeface="Times New Roman" panose="02020603050405020304" pitchFamily="18" charset="0"/>
              </a:rPr>
              <a:t>Hardware Requirements</a:t>
            </a:r>
          </a:p>
          <a:p>
            <a:pPr marL="285750" indent="-285750">
              <a:lnSpc>
                <a:spcPct val="200000"/>
              </a:lnSpc>
              <a:buFont typeface="Wingdings" panose="05000000000000000000" pitchFamily="2" charset="2"/>
              <a:buChar char="Ø"/>
            </a:pPr>
            <a:r>
              <a:rPr lang="en-US" sz="2000">
                <a:latin typeface="Times New Roman" panose="02020603050405020304" pitchFamily="18" charset="0"/>
                <a:cs typeface="Times New Roman" panose="02020603050405020304" pitchFamily="18" charset="0"/>
              </a:rPr>
              <a:t>References</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39067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51840" y="553469"/>
            <a:ext cx="7559039" cy="461665"/>
          </a:xfrm>
          <a:prstGeom prst="rect">
            <a:avLst/>
          </a:prstGeom>
        </p:spPr>
        <p:txBody>
          <a:bodyPr wrap="square">
            <a:spAutoFit/>
          </a:bodyPr>
          <a:lstStyle/>
          <a:p>
            <a:pPr algn="ctr"/>
            <a:r>
              <a:rPr lang="en-US" sz="2400" b="1" dirty="0">
                <a:solidFill>
                  <a:schemeClr val="accent5"/>
                </a:solidFill>
              </a:rPr>
              <a:t>      </a:t>
            </a:r>
            <a:r>
              <a:rPr lang="en-US" sz="2400" b="1" dirty="0">
                <a:latin typeface="Times New Roman" panose="02020603050405020304" pitchFamily="18" charset="0"/>
                <a:cs typeface="Times New Roman" panose="02020603050405020304" pitchFamily="18" charset="0"/>
              </a:rPr>
              <a:t>ABSTRACT</a:t>
            </a:r>
            <a:endParaRPr lang="en-US" sz="24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441D915E-B1B5-CAE7-C08C-FD27F0B304C8}"/>
              </a:ext>
            </a:extLst>
          </p:cNvPr>
          <p:cNvSpPr txBox="1"/>
          <p:nvPr/>
        </p:nvSpPr>
        <p:spPr>
          <a:xfrm>
            <a:off x="620202" y="1217832"/>
            <a:ext cx="8221648" cy="4247317"/>
          </a:xfrm>
          <a:prstGeom prst="rect">
            <a:avLst/>
          </a:prstGeom>
          <a:noFill/>
        </p:spPr>
        <p:txBody>
          <a:bodyPr wrap="square" rtlCol="0">
            <a:spAutoFit/>
          </a:bodyPr>
          <a:lstStyle/>
          <a:p>
            <a:r>
              <a:rPr lang="en-IN">
                <a:latin typeface="Times New Roman" panose="02020603050405020304" pitchFamily="18" charset="0"/>
                <a:cs typeface="Times New Roman" panose="02020603050405020304" pitchFamily="18" charset="0"/>
              </a:rPr>
              <a:t>Modern organizations generate enormous amounts of structured business data through sales, finance, healthcare, education, and enterprise applications. Although relational databases efficiently store this information, extracting meaningful insights requires SQL programming skills, making data analysis difficult for non-technical users.</a:t>
            </a:r>
          </a:p>
          <a:p>
            <a:r>
              <a:rPr lang="en-IN">
                <a:latin typeface="Times New Roman" panose="02020603050405020304" pitchFamily="18" charset="0"/>
                <a:cs typeface="Times New Roman" panose="02020603050405020304" pitchFamily="18" charset="0"/>
              </a:rPr>
              <a:t>The proposed </a:t>
            </a:r>
            <a:r>
              <a:rPr lang="en-IN" b="1">
                <a:latin typeface="Times New Roman" panose="02020603050405020304" pitchFamily="18" charset="0"/>
                <a:cs typeface="Times New Roman" panose="02020603050405020304" pitchFamily="18" charset="0"/>
              </a:rPr>
              <a:t>Interactive AI Assistant for Automated SQL Queries and Data Visualization</a:t>
            </a:r>
            <a:r>
              <a:rPr lang="en-IN">
                <a:latin typeface="Times New Roman" panose="02020603050405020304" pitchFamily="18" charset="0"/>
                <a:cs typeface="Times New Roman" panose="02020603050405020304" pitchFamily="18" charset="0"/>
              </a:rPr>
              <a:t> enables users to upload CSV or Excel datasets and interact with their data using natural language. The system automatically converts user questions into optimized SQL queries using Large Language Models (LLMs), validates the generated SQL for security, executes the queries on a temporary SQLite database, and presents results through interactive dashboards.</a:t>
            </a:r>
          </a:p>
          <a:p>
            <a:r>
              <a:rPr lang="en-IN">
                <a:latin typeface="Times New Roman" panose="02020603050405020304" pitchFamily="18" charset="0"/>
                <a:cs typeface="Times New Roman" panose="02020603050405020304" pitchFamily="18" charset="0"/>
              </a:rPr>
              <a:t>The framework integrates Retrieval-Augmented Generation (RAG), LangChain, SQLGlot validation, Plotly visualizations, and AI-generated business insights to simplify analytics and improve decision-making. By eliminating manual SQL coding and automatically generating charts, KPI cards, and reports, the platform provides an intelligent, user-friendly business intelligence solution.</a:t>
            </a:r>
          </a:p>
        </p:txBody>
      </p:sp>
    </p:spTree>
    <p:extLst>
      <p:ext uri="{BB962C8B-B14F-4D97-AF65-F5344CB8AC3E}">
        <p14:creationId xmlns:p14="http://schemas.microsoft.com/office/powerpoint/2010/main" val="8328904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2EAC80-3B37-7A43-B768-B7034F229A4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F42B75C-44DF-ACEA-6770-14BD512F1716}"/>
              </a:ext>
            </a:extLst>
          </p:cNvPr>
          <p:cNvSpPr/>
          <p:nvPr/>
        </p:nvSpPr>
        <p:spPr>
          <a:xfrm>
            <a:off x="721360" y="601422"/>
            <a:ext cx="7457440" cy="830997"/>
          </a:xfrm>
          <a:prstGeom prst="rect">
            <a:avLst/>
          </a:prstGeom>
        </p:spPr>
        <p:txBody>
          <a:bodyPr wrap="square">
            <a:spAutoFit/>
          </a:bodyPr>
          <a:lstStyle/>
          <a:p>
            <a:pPr algn="ctr"/>
            <a:r>
              <a:rPr lang="en-US" sz="2400" b="1" dirty="0">
                <a:latin typeface="Times New Roman" panose="02020603050405020304" pitchFamily="18" charset="0"/>
                <a:cs typeface="Times New Roman" panose="02020603050405020304" pitchFamily="18" charset="0"/>
              </a:rPr>
              <a:t>Existing System</a:t>
            </a:r>
          </a:p>
          <a:p>
            <a:pPr algn="ctr"/>
            <a:endParaRPr lang="en-US" sz="24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9DEBBFC9-2AD3-37A8-7A03-6DA6734B5474}"/>
              </a:ext>
            </a:extLst>
          </p:cNvPr>
          <p:cNvSpPr txBox="1"/>
          <p:nvPr/>
        </p:nvSpPr>
        <p:spPr>
          <a:xfrm>
            <a:off x="721360" y="1362270"/>
            <a:ext cx="8163455" cy="3970318"/>
          </a:xfrm>
          <a:prstGeom prst="rect">
            <a:avLst/>
          </a:prstGeom>
          <a:noFill/>
        </p:spPr>
        <p:txBody>
          <a:bodyPr wrap="square" rtlCol="0">
            <a:spAutoFit/>
          </a:bodyPr>
          <a:lstStyle/>
          <a:p>
            <a:r>
              <a:rPr lang="en-IN">
                <a:latin typeface="Times New Roman" panose="02020603050405020304" pitchFamily="18" charset="0"/>
                <a:cs typeface="Times New Roman" panose="02020603050405020304" pitchFamily="18" charset="0"/>
              </a:rPr>
              <a:t>Currently, business data analysis is primarily performed using the following approaches:</a:t>
            </a:r>
          </a:p>
          <a:p>
            <a:pPr marL="285750" indent="-285750">
              <a:buFont typeface="Wingdings" panose="05000000000000000000" pitchFamily="2" charset="2"/>
              <a:buChar char="Ø"/>
            </a:pPr>
            <a:r>
              <a:rPr lang="en-IN" b="1">
                <a:latin typeface="Times New Roman" panose="02020603050405020304" pitchFamily="18" charset="0"/>
                <a:cs typeface="Times New Roman" panose="02020603050405020304" pitchFamily="18" charset="0"/>
              </a:rPr>
              <a:t> Manual SQL Query Writing:</a:t>
            </a:r>
            <a:r>
              <a:rPr lang="en-IN">
                <a:latin typeface="Times New Roman" panose="02020603050405020304" pitchFamily="18" charset="0"/>
                <a:cs typeface="Times New Roman" panose="02020603050405020304" pitchFamily="18" charset="0"/>
              </a:rPr>
              <a:t>Users manually write SQL queries to retrieve information from relational databases. This process requires SQL knowledge and technical expertise.</a:t>
            </a:r>
          </a:p>
          <a:p>
            <a:pPr marL="285750" indent="-285750">
              <a:buFont typeface="Wingdings" panose="05000000000000000000" pitchFamily="2" charset="2"/>
              <a:buChar char="Ø"/>
            </a:pPr>
            <a:r>
              <a:rPr lang="en-IN" b="1">
                <a:latin typeface="Times New Roman" panose="02020603050405020304" pitchFamily="18" charset="0"/>
                <a:cs typeface="Times New Roman" panose="02020603050405020304" pitchFamily="18" charset="0"/>
              </a:rPr>
              <a:t>Traditional Business Intelligence Tools:</a:t>
            </a:r>
            <a:r>
              <a:rPr lang="en-IN">
                <a:latin typeface="Times New Roman" panose="02020603050405020304" pitchFamily="18" charset="0"/>
                <a:cs typeface="Times New Roman" panose="02020603050405020304" pitchFamily="18" charset="0"/>
              </a:rPr>
              <a:t>Most BI platforms require predefined dashboards, manual configuration, and complex query creation before generating reports.</a:t>
            </a:r>
          </a:p>
          <a:p>
            <a:pPr marL="285750" indent="-285750">
              <a:buFont typeface="Wingdings" panose="05000000000000000000" pitchFamily="2" charset="2"/>
              <a:buChar char="Ø"/>
            </a:pPr>
            <a:r>
              <a:rPr lang="en-IN" b="1">
                <a:latin typeface="Times New Roman" panose="02020603050405020304" pitchFamily="18" charset="0"/>
                <a:cs typeface="Times New Roman" panose="02020603050405020304" pitchFamily="18" charset="0"/>
              </a:rPr>
              <a:t> Conventional SQL Editors:</a:t>
            </a:r>
            <a:r>
              <a:rPr lang="en-IN">
                <a:latin typeface="Times New Roman" panose="02020603050405020304" pitchFamily="18" charset="0"/>
                <a:cs typeface="Times New Roman" panose="02020603050405020304" pitchFamily="18" charset="0"/>
              </a:rPr>
              <a:t>SQL editors provide syntax highlighting and query execution but cannot understand natural language questions or automatically generate SQL queries.</a:t>
            </a:r>
          </a:p>
          <a:p>
            <a:pPr marL="285750" indent="-285750">
              <a:buFont typeface="Wingdings" panose="05000000000000000000" pitchFamily="2" charset="2"/>
              <a:buChar char="Ø"/>
            </a:pPr>
            <a:r>
              <a:rPr lang="en-IN" b="1">
                <a:latin typeface="Times New Roman" panose="02020603050405020304" pitchFamily="18" charset="0"/>
                <a:cs typeface="Times New Roman" panose="02020603050405020304" pitchFamily="18" charset="0"/>
              </a:rPr>
              <a:t>Standalone Data Visualization Software:</a:t>
            </a:r>
            <a:r>
              <a:rPr lang="en-IN">
                <a:latin typeface="Times New Roman" panose="02020603050405020304" pitchFamily="18" charset="0"/>
                <a:cs typeface="Times New Roman" panose="02020603050405020304" pitchFamily="18" charset="0"/>
              </a:rPr>
              <a:t>Visualization platforms require manual data preparation and chart configuration, making analytics difficult for non-technical users.</a:t>
            </a:r>
          </a:p>
        </p:txBody>
      </p:sp>
    </p:spTree>
    <p:extLst>
      <p:ext uri="{BB962C8B-B14F-4D97-AF65-F5344CB8AC3E}">
        <p14:creationId xmlns:p14="http://schemas.microsoft.com/office/powerpoint/2010/main" val="14538749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41902" y="426493"/>
            <a:ext cx="7102433" cy="830997"/>
          </a:xfrm>
          <a:prstGeom prst="rect">
            <a:avLst/>
          </a:prstGeom>
        </p:spPr>
        <p:txBody>
          <a:bodyPr wrap="square">
            <a:spAutoFit/>
          </a:bodyPr>
          <a:lstStyle/>
          <a:p>
            <a:pPr algn="ctr"/>
            <a:r>
              <a:rPr lang="en-US" sz="2400" b="1" dirty="0">
                <a:solidFill>
                  <a:schemeClr val="accent5"/>
                </a:solidFill>
              </a:rPr>
              <a:t>      </a:t>
            </a:r>
            <a:r>
              <a:rPr lang="en-US" sz="2400" b="1" dirty="0">
                <a:latin typeface="Times New Roman" panose="02020603050405020304" pitchFamily="18" charset="0"/>
                <a:cs typeface="Times New Roman" panose="02020603050405020304" pitchFamily="18" charset="0"/>
              </a:rPr>
              <a:t>Limitations of  Existing System</a:t>
            </a:r>
          </a:p>
          <a:p>
            <a:pPr algn="ctr"/>
            <a:endParaRPr lang="en-US" sz="24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F921E362-10AD-EC4A-A5A3-EF09D919BC3B}"/>
              </a:ext>
            </a:extLst>
          </p:cNvPr>
          <p:cNvSpPr txBox="1"/>
          <p:nvPr/>
        </p:nvSpPr>
        <p:spPr>
          <a:xfrm>
            <a:off x="797284" y="1056596"/>
            <a:ext cx="7704814" cy="5028556"/>
          </a:xfrm>
          <a:prstGeom prst="rect">
            <a:avLst/>
          </a:prstGeom>
          <a:noFill/>
        </p:spPr>
        <p:txBody>
          <a:bodyPr wrap="square" rtlCol="0">
            <a:spAutoFit/>
          </a:bodyPr>
          <a:lstStyle/>
          <a:p>
            <a:pPr>
              <a:lnSpc>
                <a:spcPct val="150000"/>
              </a:lnSpc>
            </a:pPr>
            <a:r>
              <a:rPr lang="en-IN">
                <a:latin typeface="Times New Roman" panose="02020603050405020304" pitchFamily="18" charset="0"/>
                <a:cs typeface="Times New Roman" panose="02020603050405020304" pitchFamily="18" charset="0"/>
              </a:rPr>
              <a:t>Despite the availability of SQL editors and BI platforms, current systems suffer from several limitations.</a:t>
            </a:r>
          </a:p>
          <a:p>
            <a:pPr marL="285750" lvl="0" indent="-285750">
              <a:lnSpc>
                <a:spcPct val="150000"/>
              </a:lnSpc>
              <a:buFont typeface="Wingdings" panose="05000000000000000000" pitchFamily="2" charset="2"/>
              <a:buChar char="Ø"/>
            </a:pPr>
            <a:r>
              <a:rPr lang="en-IN">
                <a:latin typeface="Times New Roman" panose="02020603050405020304" pitchFamily="18" charset="0"/>
                <a:cs typeface="Times New Roman" panose="02020603050405020304" pitchFamily="18" charset="0"/>
              </a:rPr>
              <a:t>Requires SQL programming knowledge. </a:t>
            </a:r>
          </a:p>
          <a:p>
            <a:pPr marL="285750" lvl="0" indent="-285750">
              <a:lnSpc>
                <a:spcPct val="150000"/>
              </a:lnSpc>
              <a:buFont typeface="Wingdings" panose="05000000000000000000" pitchFamily="2" charset="2"/>
              <a:buChar char="Ø"/>
            </a:pPr>
            <a:r>
              <a:rPr lang="en-IN">
                <a:latin typeface="Times New Roman" panose="02020603050405020304" pitchFamily="18" charset="0"/>
                <a:cs typeface="Times New Roman" panose="02020603050405020304" pitchFamily="18" charset="0"/>
              </a:rPr>
              <a:t>Difficult for non-technical users. </a:t>
            </a:r>
          </a:p>
          <a:p>
            <a:pPr marL="285750" lvl="0" indent="-285750">
              <a:lnSpc>
                <a:spcPct val="150000"/>
              </a:lnSpc>
              <a:buFont typeface="Wingdings" panose="05000000000000000000" pitchFamily="2" charset="2"/>
              <a:buChar char="Ø"/>
            </a:pPr>
            <a:r>
              <a:rPr lang="en-IN">
                <a:latin typeface="Times New Roman" panose="02020603050405020304" pitchFamily="18" charset="0"/>
                <a:cs typeface="Times New Roman" panose="02020603050405020304" pitchFamily="18" charset="0"/>
              </a:rPr>
              <a:t>Manual query writing is time-consuming. </a:t>
            </a:r>
          </a:p>
          <a:p>
            <a:pPr marL="285750" lvl="0" indent="-285750">
              <a:lnSpc>
                <a:spcPct val="150000"/>
              </a:lnSpc>
              <a:buFont typeface="Wingdings" panose="05000000000000000000" pitchFamily="2" charset="2"/>
              <a:buChar char="Ø"/>
            </a:pPr>
            <a:r>
              <a:rPr lang="en-IN">
                <a:latin typeface="Times New Roman" panose="02020603050405020304" pitchFamily="18" charset="0"/>
                <a:cs typeface="Times New Roman" panose="02020603050405020304" pitchFamily="18" charset="0"/>
              </a:rPr>
              <a:t>Higher probability of syntax errors. </a:t>
            </a:r>
          </a:p>
          <a:p>
            <a:pPr marL="285750" lvl="0" indent="-285750">
              <a:lnSpc>
                <a:spcPct val="150000"/>
              </a:lnSpc>
              <a:buFont typeface="Wingdings" panose="05000000000000000000" pitchFamily="2" charset="2"/>
              <a:buChar char="Ø"/>
            </a:pPr>
            <a:r>
              <a:rPr lang="en-IN">
                <a:latin typeface="Times New Roman" panose="02020603050405020304" pitchFamily="18" charset="0"/>
                <a:cs typeface="Times New Roman" panose="02020603050405020304" pitchFamily="18" charset="0"/>
              </a:rPr>
              <a:t>Limited automation in visualization generation. </a:t>
            </a:r>
          </a:p>
          <a:p>
            <a:pPr marL="285750" lvl="0" indent="-285750">
              <a:lnSpc>
                <a:spcPct val="150000"/>
              </a:lnSpc>
              <a:buFont typeface="Wingdings" panose="05000000000000000000" pitchFamily="2" charset="2"/>
              <a:buChar char="Ø"/>
            </a:pPr>
            <a:r>
              <a:rPr lang="en-IN">
                <a:latin typeface="Times New Roman" panose="02020603050405020304" pitchFamily="18" charset="0"/>
                <a:cs typeface="Times New Roman" panose="02020603050405020304" pitchFamily="18" charset="0"/>
              </a:rPr>
              <a:t>No conversational AI interface. </a:t>
            </a:r>
          </a:p>
          <a:p>
            <a:pPr marL="285750" lvl="0" indent="-285750">
              <a:lnSpc>
                <a:spcPct val="150000"/>
              </a:lnSpc>
              <a:buFont typeface="Wingdings" panose="05000000000000000000" pitchFamily="2" charset="2"/>
              <a:buChar char="Ø"/>
            </a:pPr>
            <a:r>
              <a:rPr lang="en-IN">
                <a:latin typeface="Times New Roman" panose="02020603050405020304" pitchFamily="18" charset="0"/>
                <a:cs typeface="Times New Roman" panose="02020603050405020304" pitchFamily="18" charset="0"/>
              </a:rPr>
              <a:t>Requires database experts for report generation. </a:t>
            </a:r>
          </a:p>
          <a:p>
            <a:pPr marL="285750" lvl="0" indent="-285750">
              <a:lnSpc>
                <a:spcPct val="150000"/>
              </a:lnSpc>
              <a:buFont typeface="Wingdings" panose="05000000000000000000" pitchFamily="2" charset="2"/>
              <a:buChar char="Ø"/>
            </a:pPr>
            <a:r>
              <a:rPr lang="en-IN">
                <a:latin typeface="Times New Roman" panose="02020603050405020304" pitchFamily="18" charset="0"/>
                <a:cs typeface="Times New Roman" panose="02020603050405020304" pitchFamily="18" charset="0"/>
              </a:rPr>
              <a:t>Poor accessibility for business users. </a:t>
            </a:r>
          </a:p>
          <a:p>
            <a:pPr marL="285750" lvl="0" indent="-285750">
              <a:lnSpc>
                <a:spcPct val="150000"/>
              </a:lnSpc>
              <a:buFont typeface="Wingdings" panose="05000000000000000000" pitchFamily="2" charset="2"/>
              <a:buChar char="Ø"/>
            </a:pPr>
            <a:r>
              <a:rPr lang="en-IN">
                <a:latin typeface="Times New Roman" panose="02020603050405020304" pitchFamily="18" charset="0"/>
                <a:cs typeface="Times New Roman" panose="02020603050405020304" pitchFamily="18" charset="0"/>
              </a:rPr>
              <a:t>Limited explainability of query results. </a:t>
            </a:r>
          </a:p>
          <a:p>
            <a:pPr marL="285750" lvl="0" indent="-285750">
              <a:lnSpc>
                <a:spcPct val="150000"/>
              </a:lnSpc>
              <a:buFont typeface="Wingdings" panose="05000000000000000000" pitchFamily="2" charset="2"/>
              <a:buChar char="Ø"/>
            </a:pPr>
            <a:r>
              <a:rPr lang="en-IN">
                <a:latin typeface="Times New Roman" panose="02020603050405020304" pitchFamily="18" charset="0"/>
                <a:cs typeface="Times New Roman" panose="02020603050405020304" pitchFamily="18" charset="0"/>
              </a:rPr>
              <a:t>Minimal intelligent recommendations.</a:t>
            </a:r>
          </a:p>
        </p:txBody>
      </p:sp>
    </p:spTree>
    <p:extLst>
      <p:ext uri="{BB962C8B-B14F-4D97-AF65-F5344CB8AC3E}">
        <p14:creationId xmlns:p14="http://schemas.microsoft.com/office/powerpoint/2010/main" val="22644528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86797" y="282186"/>
            <a:ext cx="6570406" cy="830997"/>
          </a:xfrm>
          <a:prstGeom prst="rect">
            <a:avLst/>
          </a:prstGeom>
        </p:spPr>
        <p:txBody>
          <a:bodyPr wrap="square">
            <a:spAutoFit/>
          </a:bodyPr>
          <a:lstStyle/>
          <a:p>
            <a:pPr algn="ctr"/>
            <a:r>
              <a:rPr lang="en-US" sz="2400" b="1" dirty="0">
                <a:latin typeface="Times New Roman" panose="02020603050405020304" pitchFamily="18" charset="0"/>
                <a:cs typeface="Times New Roman" panose="02020603050405020304" pitchFamily="18" charset="0"/>
              </a:rPr>
              <a:t>Proposed System</a:t>
            </a:r>
          </a:p>
          <a:p>
            <a:pPr algn="ctr"/>
            <a:endParaRPr lang="en-US" sz="24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1F0C1555-F788-76B8-D4B1-4DD3C4C8C959}"/>
              </a:ext>
            </a:extLst>
          </p:cNvPr>
          <p:cNvSpPr txBox="1"/>
          <p:nvPr/>
        </p:nvSpPr>
        <p:spPr>
          <a:xfrm>
            <a:off x="305638" y="773225"/>
            <a:ext cx="8321767" cy="5355312"/>
          </a:xfrm>
          <a:prstGeom prst="rect">
            <a:avLst/>
          </a:prstGeom>
          <a:noFill/>
        </p:spPr>
        <p:txBody>
          <a:bodyPr wrap="square" rtlCol="0">
            <a:spAutoFit/>
          </a:bodyPr>
          <a:lstStyle/>
          <a:p>
            <a:pPr algn="just"/>
            <a:r>
              <a:rPr lang="en-IN">
                <a:latin typeface="Times New Roman" panose="02020603050405020304" pitchFamily="18" charset="0"/>
                <a:cs typeface="Times New Roman" panose="02020603050405020304" pitchFamily="18" charset="0"/>
              </a:rPr>
              <a:t>The proposed Interactive AI Assistant for Automated SQL Queries and Data Visualization provides an intelligent self-service analytics platform that allows users to upload CSV or Excel files and retrieve information using natural language instead of manually writing SQL queries.</a:t>
            </a:r>
          </a:p>
          <a:p>
            <a:r>
              <a:rPr lang="en-IN" b="1">
                <a:latin typeface="Times New Roman" panose="02020603050405020304" pitchFamily="18" charset="0"/>
                <a:cs typeface="Times New Roman" panose="02020603050405020304" pitchFamily="18" charset="0"/>
              </a:rPr>
              <a:t>➢ Dataset Upload &amp; Preprocessing</a:t>
            </a:r>
          </a:p>
          <a:p>
            <a:r>
              <a:rPr lang="en-IN">
                <a:latin typeface="Times New Roman" panose="02020603050405020304" pitchFamily="18" charset="0"/>
                <a:cs typeface="Times New Roman" panose="02020603050405020304" pitchFamily="18" charset="0"/>
              </a:rPr>
              <a:t>Uploads CSV or Excel datasets, validates data, cleans column names, and creates a temporary SQLite database automatically.</a:t>
            </a:r>
          </a:p>
          <a:p>
            <a:r>
              <a:rPr lang="en-IN" b="1">
                <a:latin typeface="Times New Roman" panose="02020603050405020304" pitchFamily="18" charset="0"/>
                <a:cs typeface="Times New Roman" panose="02020603050405020304" pitchFamily="18" charset="0"/>
              </a:rPr>
              <a:t>➢ Schema Extraction &amp; RAG</a:t>
            </a:r>
          </a:p>
          <a:p>
            <a:r>
              <a:rPr lang="en-IN">
                <a:latin typeface="Times New Roman" panose="02020603050405020304" pitchFamily="18" charset="0"/>
                <a:cs typeface="Times New Roman" panose="02020603050405020304" pitchFamily="18" charset="0"/>
              </a:rPr>
              <a:t>Extracts database schema, column information, and metadata while storing semantic embeddings using ChromaDB for accurate context retrieval.</a:t>
            </a:r>
          </a:p>
          <a:p>
            <a:r>
              <a:rPr lang="en-IN" b="1">
                <a:latin typeface="Times New Roman" panose="02020603050405020304" pitchFamily="18" charset="0"/>
                <a:cs typeface="Times New Roman" panose="02020603050405020304" pitchFamily="18" charset="0"/>
              </a:rPr>
              <a:t>➢ AI-Based SQL Generation</a:t>
            </a:r>
          </a:p>
          <a:p>
            <a:r>
              <a:rPr lang="en-IN">
                <a:latin typeface="Times New Roman" panose="02020603050405020304" pitchFamily="18" charset="0"/>
                <a:cs typeface="Times New Roman" panose="02020603050405020304" pitchFamily="18" charset="0"/>
              </a:rPr>
              <a:t>Uses LangChain with Google Gemini or OpenAI to convert user questions into optimized SQL queries automatically.</a:t>
            </a:r>
          </a:p>
          <a:p>
            <a:r>
              <a:rPr lang="en-IN" b="1">
                <a:latin typeface="Times New Roman" panose="02020603050405020304" pitchFamily="18" charset="0"/>
                <a:cs typeface="Times New Roman" panose="02020603050405020304" pitchFamily="18" charset="0"/>
              </a:rPr>
              <a:t>➢ Secure SQL Validation</a:t>
            </a:r>
          </a:p>
          <a:p>
            <a:r>
              <a:rPr lang="en-IN">
                <a:latin typeface="Times New Roman" panose="02020603050405020304" pitchFamily="18" charset="0"/>
                <a:cs typeface="Times New Roman" panose="02020603050405020304" pitchFamily="18" charset="0"/>
              </a:rPr>
              <a:t>Validates SQL queries using SQLGlot and allows only read-only SELECT statements while blocking DROP, DELETE, UPDATE, INSERT, and ALTER operations.</a:t>
            </a:r>
          </a:p>
          <a:p>
            <a:r>
              <a:rPr lang="en-IN" b="1">
                <a:latin typeface="Times New Roman" panose="02020603050405020304" pitchFamily="18" charset="0"/>
                <a:cs typeface="Times New Roman" panose="02020603050405020304" pitchFamily="18" charset="0"/>
              </a:rPr>
              <a:t>➢ Interactive Visualization</a:t>
            </a:r>
          </a:p>
          <a:p>
            <a:r>
              <a:rPr lang="en-IN">
                <a:latin typeface="Times New Roman" panose="02020603050405020304" pitchFamily="18" charset="0"/>
                <a:cs typeface="Times New Roman" panose="02020603050405020304" pitchFamily="18" charset="0"/>
              </a:rPr>
              <a:t>Automatically creates Plotly dashboards including bar charts, line charts, pie charts, KPI cards, scatter plots, and heatmaps.</a:t>
            </a:r>
          </a:p>
        </p:txBody>
      </p:sp>
    </p:spTree>
    <p:extLst>
      <p:ext uri="{BB962C8B-B14F-4D97-AF65-F5344CB8AC3E}">
        <p14:creationId xmlns:p14="http://schemas.microsoft.com/office/powerpoint/2010/main" val="32422104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61C6ADD-1682-6D8F-6470-E312B8010092}"/>
              </a:ext>
            </a:extLst>
          </p:cNvPr>
          <p:cNvSpPr txBox="1"/>
          <p:nvPr/>
        </p:nvSpPr>
        <p:spPr>
          <a:xfrm>
            <a:off x="1940118" y="485029"/>
            <a:ext cx="5263763" cy="830997"/>
          </a:xfrm>
          <a:prstGeom prst="rect">
            <a:avLst/>
          </a:prstGeom>
          <a:noFill/>
        </p:spPr>
        <p:txBody>
          <a:bodyPr wrap="square" rtlCol="0">
            <a:spAutoFit/>
          </a:bodyPr>
          <a:lstStyle/>
          <a:p>
            <a:pPr algn="ctr"/>
            <a:r>
              <a:rPr lang="en-IN" sz="2400" b="1" dirty="0"/>
              <a:t>Advantages of Proposed System</a:t>
            </a:r>
          </a:p>
          <a:p>
            <a:pPr algn="ctr"/>
            <a:endParaRPr lang="en-IN" sz="2400" b="1" dirty="0"/>
          </a:p>
        </p:txBody>
      </p:sp>
      <p:sp>
        <p:nvSpPr>
          <p:cNvPr id="5" name="Rectangle 2">
            <a:extLst>
              <a:ext uri="{FF2B5EF4-FFF2-40B4-BE49-F238E27FC236}">
                <a16:creationId xmlns:a16="http://schemas.microsoft.com/office/drawing/2014/main" id="{E5D0C1D7-5AC9-A8E8-58F5-6A8A8390F9A0}"/>
              </a:ext>
            </a:extLst>
          </p:cNvPr>
          <p:cNvSpPr>
            <a:spLocks noChangeArrowheads="1"/>
          </p:cNvSpPr>
          <p:nvPr/>
        </p:nvSpPr>
        <p:spPr bwMode="auto">
          <a:xfrm rot="10800000" flipV="1">
            <a:off x="502814" y="911323"/>
            <a:ext cx="8436334" cy="50353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a:lnSpc>
                <a:spcPct val="150000"/>
              </a:lnSpc>
              <a:buFont typeface="Wingdings" panose="05000000000000000000" pitchFamily="2" charset="2"/>
              <a:buChar char="Ø"/>
            </a:pPr>
            <a:r>
              <a:rPr lang="en-IN">
                <a:latin typeface="Times New Roman" panose="02020603050405020304" pitchFamily="18" charset="0"/>
                <a:cs typeface="Times New Roman" panose="02020603050405020304" pitchFamily="18" charset="0"/>
              </a:rPr>
              <a:t>Natural Language to SQL conversion. </a:t>
            </a:r>
          </a:p>
          <a:p>
            <a:pPr marL="285750" lvl="0" indent="-285750">
              <a:lnSpc>
                <a:spcPct val="150000"/>
              </a:lnSpc>
              <a:buFont typeface="Wingdings" panose="05000000000000000000" pitchFamily="2" charset="2"/>
              <a:buChar char="Ø"/>
            </a:pPr>
            <a:r>
              <a:rPr lang="en-IN">
                <a:latin typeface="Times New Roman" panose="02020603050405020304" pitchFamily="18" charset="0"/>
                <a:cs typeface="Times New Roman" panose="02020603050405020304" pitchFamily="18" charset="0"/>
              </a:rPr>
              <a:t>AI-generated optimized SQL queries. </a:t>
            </a:r>
          </a:p>
          <a:p>
            <a:pPr marL="285750" lvl="0" indent="-285750">
              <a:lnSpc>
                <a:spcPct val="150000"/>
              </a:lnSpc>
              <a:buFont typeface="Wingdings" panose="05000000000000000000" pitchFamily="2" charset="2"/>
              <a:buChar char="Ø"/>
            </a:pPr>
            <a:r>
              <a:rPr lang="en-IN">
                <a:latin typeface="Times New Roman" panose="02020603050405020304" pitchFamily="18" charset="0"/>
                <a:cs typeface="Times New Roman" panose="02020603050405020304" pitchFamily="18" charset="0"/>
              </a:rPr>
              <a:t>Upload CSV and Excel datasets. </a:t>
            </a:r>
          </a:p>
          <a:p>
            <a:pPr marL="285750" lvl="0" indent="-285750">
              <a:lnSpc>
                <a:spcPct val="150000"/>
              </a:lnSpc>
              <a:buFont typeface="Wingdings" panose="05000000000000000000" pitchFamily="2" charset="2"/>
              <a:buChar char="Ø"/>
            </a:pPr>
            <a:r>
              <a:rPr lang="en-IN">
                <a:latin typeface="Times New Roman" panose="02020603050405020304" pitchFamily="18" charset="0"/>
                <a:cs typeface="Times New Roman" panose="02020603050405020304" pitchFamily="18" charset="0"/>
              </a:rPr>
              <a:t>Eliminates manual SQL coding. </a:t>
            </a:r>
          </a:p>
          <a:p>
            <a:pPr marL="285750" lvl="0" indent="-285750">
              <a:lnSpc>
                <a:spcPct val="150000"/>
              </a:lnSpc>
              <a:buFont typeface="Wingdings" panose="05000000000000000000" pitchFamily="2" charset="2"/>
              <a:buChar char="Ø"/>
            </a:pPr>
            <a:r>
              <a:rPr lang="en-IN">
                <a:latin typeface="Times New Roman" panose="02020603050405020304" pitchFamily="18" charset="0"/>
                <a:cs typeface="Times New Roman" panose="02020603050405020304" pitchFamily="18" charset="0"/>
              </a:rPr>
              <a:t>Supports non-technical users. </a:t>
            </a:r>
          </a:p>
          <a:p>
            <a:pPr marL="285750" lvl="0" indent="-285750">
              <a:lnSpc>
                <a:spcPct val="150000"/>
              </a:lnSpc>
              <a:buFont typeface="Wingdings" panose="05000000000000000000" pitchFamily="2" charset="2"/>
              <a:buChar char="Ø"/>
            </a:pPr>
            <a:r>
              <a:rPr lang="en-IN">
                <a:latin typeface="Times New Roman" panose="02020603050405020304" pitchFamily="18" charset="0"/>
                <a:cs typeface="Times New Roman" panose="02020603050405020304" pitchFamily="18" charset="0"/>
              </a:rPr>
              <a:t>Interactive dashboards and visual analytics. </a:t>
            </a:r>
          </a:p>
          <a:p>
            <a:pPr marL="285750" lvl="0" indent="-285750">
              <a:lnSpc>
                <a:spcPct val="150000"/>
              </a:lnSpc>
              <a:buFont typeface="Wingdings" panose="05000000000000000000" pitchFamily="2" charset="2"/>
              <a:buChar char="Ø"/>
            </a:pPr>
            <a:r>
              <a:rPr lang="en-IN">
                <a:latin typeface="Times New Roman" panose="02020603050405020304" pitchFamily="18" charset="0"/>
                <a:cs typeface="Times New Roman" panose="02020603050405020304" pitchFamily="18" charset="0"/>
              </a:rPr>
              <a:t>Automatic chart recommendations. </a:t>
            </a:r>
          </a:p>
          <a:p>
            <a:pPr marL="285750" lvl="0" indent="-285750">
              <a:lnSpc>
                <a:spcPct val="150000"/>
              </a:lnSpc>
              <a:buFont typeface="Wingdings" panose="05000000000000000000" pitchFamily="2" charset="2"/>
              <a:buChar char="Ø"/>
            </a:pPr>
            <a:r>
              <a:rPr lang="en-IN">
                <a:latin typeface="Times New Roman" panose="02020603050405020304" pitchFamily="18" charset="0"/>
                <a:cs typeface="Times New Roman" panose="02020603050405020304" pitchFamily="18" charset="0"/>
              </a:rPr>
              <a:t>Secure SQL execution. </a:t>
            </a:r>
          </a:p>
          <a:p>
            <a:pPr marL="285750" lvl="0" indent="-285750">
              <a:lnSpc>
                <a:spcPct val="150000"/>
              </a:lnSpc>
              <a:buFont typeface="Wingdings" panose="05000000000000000000" pitchFamily="2" charset="2"/>
              <a:buChar char="Ø"/>
            </a:pPr>
            <a:r>
              <a:rPr lang="en-IN">
                <a:latin typeface="Times New Roman" panose="02020603050405020304" pitchFamily="18" charset="0"/>
                <a:cs typeface="Times New Roman" panose="02020603050405020304" pitchFamily="18" charset="0"/>
              </a:rPr>
              <a:t>AI-generated business insights. </a:t>
            </a:r>
          </a:p>
          <a:p>
            <a:pPr marL="285750" lvl="0" indent="-285750">
              <a:lnSpc>
                <a:spcPct val="150000"/>
              </a:lnSpc>
              <a:buFont typeface="Wingdings" panose="05000000000000000000" pitchFamily="2" charset="2"/>
              <a:buChar char="Ø"/>
            </a:pPr>
            <a:r>
              <a:rPr lang="en-IN">
                <a:latin typeface="Times New Roman" panose="02020603050405020304" pitchFamily="18" charset="0"/>
                <a:cs typeface="Times New Roman" panose="02020603050405020304" pitchFamily="18" charset="0"/>
              </a:rPr>
              <a:t>Export reports in CSV, Excel, and PDF. </a:t>
            </a:r>
          </a:p>
          <a:p>
            <a:pPr marL="285750" lvl="0" indent="-285750">
              <a:lnSpc>
                <a:spcPct val="150000"/>
              </a:lnSpc>
              <a:buFont typeface="Wingdings" panose="05000000000000000000" pitchFamily="2" charset="2"/>
              <a:buChar char="Ø"/>
            </a:pPr>
            <a:r>
              <a:rPr lang="en-IN">
                <a:latin typeface="Times New Roman" panose="02020603050405020304" pitchFamily="18" charset="0"/>
                <a:cs typeface="Times New Roman" panose="02020603050405020304" pitchFamily="18" charset="0"/>
              </a:rPr>
              <a:t>Scalable architecture. </a:t>
            </a:r>
          </a:p>
          <a:p>
            <a:pPr marL="285750" lvl="0" indent="-285750">
              <a:lnSpc>
                <a:spcPct val="150000"/>
              </a:lnSpc>
              <a:buFont typeface="Wingdings" panose="05000000000000000000" pitchFamily="2" charset="2"/>
              <a:buChar char="Ø"/>
            </a:pPr>
            <a:r>
              <a:rPr lang="en-IN">
                <a:latin typeface="Times New Roman" panose="02020603050405020304" pitchFamily="18" charset="0"/>
                <a:cs typeface="Times New Roman" panose="02020603050405020304" pitchFamily="18" charset="0"/>
              </a:rPr>
              <a:t>Easy integration with enterprise databases.</a:t>
            </a:r>
          </a:p>
        </p:txBody>
      </p:sp>
    </p:spTree>
    <p:extLst>
      <p:ext uri="{BB962C8B-B14F-4D97-AF65-F5344CB8AC3E}">
        <p14:creationId xmlns:p14="http://schemas.microsoft.com/office/powerpoint/2010/main" val="8807635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19586" y="937161"/>
            <a:ext cx="7467600" cy="954107"/>
          </a:xfrm>
          <a:prstGeom prst="rect">
            <a:avLst/>
          </a:prstGeom>
        </p:spPr>
        <p:txBody>
          <a:bodyPr wrap="square">
            <a:spAutoFit/>
          </a:bodyPr>
          <a:lstStyle/>
          <a:p>
            <a:pPr algn="ctr"/>
            <a:r>
              <a:rPr lang="en-US" sz="2800" b="1" dirty="0">
                <a:latin typeface="Times New Roman" panose="02020603050405020304" pitchFamily="18" charset="0"/>
                <a:cs typeface="Times New Roman" panose="02020603050405020304" pitchFamily="18" charset="0"/>
              </a:rPr>
              <a:t>Software Requirements</a:t>
            </a:r>
          </a:p>
          <a:p>
            <a:pPr algn="ctr"/>
            <a:endParaRPr lang="en-US" sz="2800"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40B25CAF-E97B-0CCA-D4C1-454EB22AF691}"/>
              </a:ext>
            </a:extLst>
          </p:cNvPr>
          <p:cNvSpPr>
            <a:spLocks noChangeArrowheads="1"/>
          </p:cNvSpPr>
          <p:nvPr/>
        </p:nvSpPr>
        <p:spPr bwMode="auto">
          <a:xfrm rot="10800000" flipV="1">
            <a:off x="756813" y="1840521"/>
            <a:ext cx="8097937" cy="37820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IN" b="1">
                <a:latin typeface="Times New Roman" panose="02020603050405020304" pitchFamily="18" charset="0"/>
                <a:cs typeface="Times New Roman" panose="02020603050405020304" pitchFamily="18" charset="0"/>
              </a:rPr>
              <a:t>Operating System:</a:t>
            </a:r>
            <a:r>
              <a:rPr lang="en-IN">
                <a:latin typeface="Times New Roman" panose="02020603050405020304" pitchFamily="18" charset="0"/>
                <a:cs typeface="Times New Roman" panose="02020603050405020304" pitchFamily="18" charset="0"/>
              </a:rPr>
              <a:t> Windows 10/11, Ubuntu 22.04, or macOS</a:t>
            </a:r>
          </a:p>
          <a:p>
            <a:pPr>
              <a:lnSpc>
                <a:spcPct val="150000"/>
              </a:lnSpc>
            </a:pPr>
            <a:r>
              <a:rPr lang="en-IN" b="1">
                <a:latin typeface="Times New Roman" panose="02020603050405020304" pitchFamily="18" charset="0"/>
                <a:cs typeface="Times New Roman" panose="02020603050405020304" pitchFamily="18" charset="0"/>
              </a:rPr>
              <a:t>Programming Language:</a:t>
            </a:r>
            <a:r>
              <a:rPr lang="en-IN">
                <a:latin typeface="Times New Roman" panose="02020603050405020304" pitchFamily="18" charset="0"/>
                <a:cs typeface="Times New Roman" panose="02020603050405020304" pitchFamily="18" charset="0"/>
              </a:rPr>
              <a:t> Python 3.11 or above</a:t>
            </a:r>
          </a:p>
          <a:p>
            <a:pPr>
              <a:lnSpc>
                <a:spcPct val="150000"/>
              </a:lnSpc>
            </a:pPr>
            <a:r>
              <a:rPr lang="en-IN" b="1">
                <a:latin typeface="Times New Roman" panose="02020603050405020304" pitchFamily="18" charset="0"/>
                <a:cs typeface="Times New Roman" panose="02020603050405020304" pitchFamily="18" charset="0"/>
              </a:rPr>
              <a:t>Framework: </a:t>
            </a:r>
            <a:r>
              <a:rPr lang="en-IN">
                <a:latin typeface="Times New Roman" panose="02020603050405020304" pitchFamily="18" charset="0"/>
                <a:cs typeface="Times New Roman" panose="02020603050405020304" pitchFamily="18" charset="0"/>
              </a:rPr>
              <a:t> Visual Studio Code / PyCharm / Jupyter Notebook</a:t>
            </a:r>
            <a:endParaRPr lang="en-IN" b="1">
              <a:latin typeface="Times New Roman" panose="02020603050405020304" pitchFamily="18" charset="0"/>
              <a:cs typeface="Times New Roman" panose="02020603050405020304" pitchFamily="18" charset="0"/>
            </a:endParaRPr>
          </a:p>
          <a:p>
            <a:pPr>
              <a:lnSpc>
                <a:spcPct val="150000"/>
              </a:lnSpc>
            </a:pPr>
            <a:r>
              <a:rPr lang="en-IN" b="1">
                <a:latin typeface="Times New Roman" panose="02020603050405020304" pitchFamily="18" charset="0"/>
                <a:cs typeface="Times New Roman" panose="02020603050405020304" pitchFamily="18" charset="0"/>
              </a:rPr>
              <a:t>Frontend:</a:t>
            </a:r>
            <a:r>
              <a:rPr lang="en-IN">
                <a:latin typeface="Times New Roman" panose="02020603050405020304" pitchFamily="18" charset="0"/>
                <a:cs typeface="Times New Roman" panose="02020603050405020304" pitchFamily="18" charset="0"/>
              </a:rPr>
              <a:t> Streamlit</a:t>
            </a:r>
          </a:p>
          <a:p>
            <a:pPr>
              <a:lnSpc>
                <a:spcPct val="150000"/>
              </a:lnSpc>
            </a:pPr>
            <a:r>
              <a:rPr lang="en-IN" b="1">
                <a:latin typeface="Times New Roman" panose="02020603050405020304" pitchFamily="18" charset="0"/>
                <a:cs typeface="Times New Roman" panose="02020603050405020304" pitchFamily="18" charset="0"/>
              </a:rPr>
              <a:t>Database &amp; Backend:</a:t>
            </a:r>
            <a:r>
              <a:rPr lang="en-IN">
                <a:latin typeface="Times New Roman" panose="02020603050405020304" pitchFamily="18" charset="0"/>
                <a:cs typeface="Times New Roman" panose="02020603050405020304" pitchFamily="18" charset="0"/>
              </a:rPr>
              <a:t> SQLite (Temporary Database), FastAPI, PostgreSQL (Optional Enterprise Support) </a:t>
            </a:r>
          </a:p>
          <a:p>
            <a:pPr>
              <a:lnSpc>
                <a:spcPct val="150000"/>
              </a:lnSpc>
            </a:pPr>
            <a:r>
              <a:rPr lang="en-IN" b="1">
                <a:latin typeface="Times New Roman" panose="02020603050405020304" pitchFamily="18" charset="0"/>
                <a:cs typeface="Times New Roman" panose="02020603050405020304" pitchFamily="18" charset="0"/>
              </a:rPr>
              <a:t>AI &amp; LLM:</a:t>
            </a:r>
            <a:r>
              <a:rPr lang="en-IN">
                <a:latin typeface="Times New Roman" panose="02020603050405020304" pitchFamily="18" charset="0"/>
                <a:cs typeface="Times New Roman" panose="02020603050405020304" pitchFamily="18" charset="0"/>
              </a:rPr>
              <a:t> LangChain, Google Gemini API / OpenAI GPT, ChromaDB </a:t>
            </a:r>
          </a:p>
          <a:p>
            <a:pPr>
              <a:lnSpc>
                <a:spcPct val="150000"/>
              </a:lnSpc>
            </a:pPr>
            <a:r>
              <a:rPr lang="en-IN" b="1">
                <a:latin typeface="Times New Roman" panose="02020603050405020304" pitchFamily="18" charset="0"/>
                <a:cs typeface="Times New Roman" panose="02020603050405020304" pitchFamily="18" charset="0"/>
              </a:rPr>
              <a:t>Libraries &amp; Tools:</a:t>
            </a:r>
            <a:r>
              <a:rPr lang="en-IN">
                <a:latin typeface="Times New Roman" panose="02020603050405020304" pitchFamily="18" charset="0"/>
                <a:cs typeface="Times New Roman" panose="02020603050405020304" pitchFamily="18" charset="0"/>
              </a:rPr>
              <a:t> Pandas, NumPy, SQLAlchemy, SQLGlot, Plotly, OpenPyXL, Pydantic, Python-Dotenv, ReportLab, FPDF2 </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02F6EFC6-4287-72E6-EE3F-CB9849705931}"/>
                  </a:ext>
                </a:extLst>
              </p14:cNvPr>
              <p14:cNvContentPartPr/>
              <p14:nvPr/>
            </p14:nvContentPartPr>
            <p14:xfrm>
              <a:off x="3675982" y="3573441"/>
              <a:ext cx="9720" cy="360"/>
            </p14:xfrm>
          </p:contentPart>
        </mc:Choice>
        <mc:Fallback xmlns="">
          <p:pic>
            <p:nvPicPr>
              <p:cNvPr id="3" name="Ink 2">
                <a:extLst>
                  <a:ext uri="{FF2B5EF4-FFF2-40B4-BE49-F238E27FC236}">
                    <a16:creationId xmlns:a16="http://schemas.microsoft.com/office/drawing/2014/main" id="{02F6EFC6-4287-72E6-EE3F-CB9849705931}"/>
                  </a:ext>
                </a:extLst>
              </p:cNvPr>
              <p:cNvPicPr/>
              <p:nvPr/>
            </p:nvPicPr>
            <p:blipFill>
              <a:blip r:embed="rId3"/>
              <a:stretch>
                <a:fillRect/>
              </a:stretch>
            </p:blipFill>
            <p:spPr>
              <a:xfrm>
                <a:off x="3669862" y="3567321"/>
                <a:ext cx="21960" cy="12600"/>
              </a:xfrm>
              <a:prstGeom prst="rect">
                <a:avLst/>
              </a:prstGeom>
            </p:spPr>
          </p:pic>
        </mc:Fallback>
      </mc:AlternateContent>
    </p:spTree>
    <p:extLst>
      <p:ext uri="{BB962C8B-B14F-4D97-AF65-F5344CB8AC3E}">
        <p14:creationId xmlns:p14="http://schemas.microsoft.com/office/powerpoint/2010/main" val="34230075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DAA2D00-CDC4-2943-C295-494A21C6A99F}"/>
              </a:ext>
            </a:extLst>
          </p:cNvPr>
          <p:cNvSpPr/>
          <p:nvPr/>
        </p:nvSpPr>
        <p:spPr>
          <a:xfrm>
            <a:off x="838200" y="772645"/>
            <a:ext cx="7467600" cy="954107"/>
          </a:xfrm>
          <a:prstGeom prst="rect">
            <a:avLst/>
          </a:prstGeom>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2800" b="1" dirty="0">
                <a:latin typeface="Times New Roman" panose="02020603050405020304" pitchFamily="18" charset="0"/>
                <a:cs typeface="Times New Roman" panose="02020603050405020304" pitchFamily="18" charset="0"/>
              </a:rPr>
              <a:t>Hardware Requirements</a:t>
            </a:r>
          </a:p>
          <a:p>
            <a:pPr algn="ctr"/>
            <a:endParaRPr lang="en-US" sz="2800" dirty="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6A2EA269-34A5-CB29-D184-7C5FC5C7DA0B}"/>
              </a:ext>
            </a:extLst>
          </p:cNvPr>
          <p:cNvSpPr>
            <a:spLocks noChangeArrowheads="1"/>
          </p:cNvSpPr>
          <p:nvPr/>
        </p:nvSpPr>
        <p:spPr bwMode="auto">
          <a:xfrm rot="10800000" flipV="1">
            <a:off x="1311965" y="1920214"/>
            <a:ext cx="6909684" cy="3293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1600" b="1">
                <a:latin typeface="Times New Roman" panose="02020603050405020304" pitchFamily="18" charset="0"/>
                <a:cs typeface="Times New Roman" panose="02020603050405020304" pitchFamily="18" charset="0"/>
              </a:rPr>
              <a:t>Minimum Requirements:</a:t>
            </a:r>
            <a:endParaRPr lang="en-IN" sz="160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sz="1600" b="1">
                <a:latin typeface="Times New Roman" panose="02020603050405020304" pitchFamily="18" charset="0"/>
                <a:cs typeface="Times New Roman" panose="02020603050405020304" pitchFamily="18" charset="0"/>
              </a:rPr>
              <a:t>RAM:</a:t>
            </a:r>
            <a:r>
              <a:rPr lang="en-IN" sz="1600">
                <a:latin typeface="Times New Roman" panose="02020603050405020304" pitchFamily="18" charset="0"/>
                <a:cs typeface="Times New Roman" panose="02020603050405020304" pitchFamily="18" charset="0"/>
              </a:rPr>
              <a:t> 8 GB </a:t>
            </a:r>
          </a:p>
          <a:p>
            <a:pPr marL="285750" lvl="0" indent="-285750">
              <a:buFont typeface="Arial" panose="020B0604020202020204" pitchFamily="34" charset="0"/>
              <a:buChar char="•"/>
            </a:pPr>
            <a:r>
              <a:rPr lang="en-IN" sz="1600" b="1">
                <a:latin typeface="Times New Roman" panose="02020603050405020304" pitchFamily="18" charset="0"/>
                <a:cs typeface="Times New Roman" panose="02020603050405020304" pitchFamily="18" charset="0"/>
              </a:rPr>
              <a:t>Processor:</a:t>
            </a:r>
            <a:r>
              <a:rPr lang="en-IN" sz="1600">
                <a:latin typeface="Times New Roman" panose="02020603050405020304" pitchFamily="18" charset="0"/>
                <a:cs typeface="Times New Roman" panose="02020603050405020304" pitchFamily="18" charset="0"/>
              </a:rPr>
              <a:t> Intel Core i5 (8th Gen) / AMD Ryzen 5 or equivalent </a:t>
            </a:r>
          </a:p>
          <a:p>
            <a:pPr marL="285750" lvl="0" indent="-285750">
              <a:buFont typeface="Arial" panose="020B0604020202020204" pitchFamily="34" charset="0"/>
              <a:buChar char="•"/>
            </a:pPr>
            <a:r>
              <a:rPr lang="en-IN" sz="1600" b="1">
                <a:latin typeface="Times New Roman" panose="02020603050405020304" pitchFamily="18" charset="0"/>
                <a:cs typeface="Times New Roman" panose="02020603050405020304" pitchFamily="18" charset="0"/>
              </a:rPr>
              <a:t>Storage:</a:t>
            </a:r>
            <a:r>
              <a:rPr lang="en-IN" sz="1600">
                <a:latin typeface="Times New Roman" panose="02020603050405020304" pitchFamily="18" charset="0"/>
                <a:cs typeface="Times New Roman" panose="02020603050405020304" pitchFamily="18" charset="0"/>
              </a:rPr>
              <a:t> 20 GB free disk space </a:t>
            </a:r>
          </a:p>
          <a:p>
            <a:pPr marL="285750" lvl="0" indent="-285750">
              <a:buFont typeface="Arial" panose="020B0604020202020204" pitchFamily="34" charset="0"/>
              <a:buChar char="•"/>
            </a:pPr>
            <a:r>
              <a:rPr lang="en-IN" sz="1600" b="1">
                <a:latin typeface="Times New Roman" panose="02020603050405020304" pitchFamily="18" charset="0"/>
                <a:cs typeface="Times New Roman" panose="02020603050405020304" pitchFamily="18" charset="0"/>
              </a:rPr>
              <a:t>GPU:</a:t>
            </a:r>
            <a:r>
              <a:rPr lang="en-IN" sz="1600">
                <a:latin typeface="Times New Roman" panose="02020603050405020304" pitchFamily="18" charset="0"/>
                <a:cs typeface="Times New Roman" panose="02020603050405020304" pitchFamily="18" charset="0"/>
              </a:rPr>
              <a:t> Not required (CPU-based execution) </a:t>
            </a:r>
          </a:p>
          <a:p>
            <a:pPr marL="285750" lvl="0" indent="-285750">
              <a:buFont typeface="Arial" panose="020B0604020202020204" pitchFamily="34" charset="0"/>
              <a:buChar char="•"/>
            </a:pPr>
            <a:r>
              <a:rPr lang="en-IN" sz="1600" b="1">
                <a:latin typeface="Times New Roman" panose="02020603050405020304" pitchFamily="18" charset="0"/>
                <a:cs typeface="Times New Roman" panose="02020603050405020304" pitchFamily="18" charset="0"/>
              </a:rPr>
              <a:t>Internet Connection:</a:t>
            </a:r>
            <a:r>
              <a:rPr lang="en-IN" sz="1600">
                <a:latin typeface="Times New Roman" panose="02020603050405020304" pitchFamily="18" charset="0"/>
                <a:cs typeface="Times New Roman" panose="02020603050405020304" pitchFamily="18" charset="0"/>
              </a:rPr>
              <a:t> Required only for initial software installation and downloading dependencies </a:t>
            </a:r>
          </a:p>
          <a:p>
            <a:pPr lvl="0"/>
            <a:r>
              <a:rPr lang="en-IN" sz="1600" b="1">
                <a:latin typeface="Times New Roman" panose="02020603050405020304" pitchFamily="18" charset="0"/>
                <a:cs typeface="Times New Roman" panose="02020603050405020304" pitchFamily="18" charset="0"/>
              </a:rPr>
              <a:t>Recommended Requirements:</a:t>
            </a:r>
            <a:endParaRPr lang="en-IN" sz="160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sz="1600" b="1">
                <a:latin typeface="Times New Roman" panose="02020603050405020304" pitchFamily="18" charset="0"/>
                <a:cs typeface="Times New Roman" panose="02020603050405020304" pitchFamily="18" charset="0"/>
              </a:rPr>
              <a:t>RAM:</a:t>
            </a:r>
            <a:r>
              <a:rPr lang="en-IN" sz="1600">
                <a:latin typeface="Times New Roman" panose="02020603050405020304" pitchFamily="18" charset="0"/>
                <a:cs typeface="Times New Roman" panose="02020603050405020304" pitchFamily="18" charset="0"/>
              </a:rPr>
              <a:t> 16 GB or more </a:t>
            </a:r>
          </a:p>
          <a:p>
            <a:pPr marL="285750" lvl="0" indent="-285750">
              <a:buFont typeface="Arial" panose="020B0604020202020204" pitchFamily="34" charset="0"/>
              <a:buChar char="•"/>
            </a:pPr>
            <a:r>
              <a:rPr lang="en-IN" sz="1600" b="1">
                <a:latin typeface="Times New Roman" panose="02020603050405020304" pitchFamily="18" charset="0"/>
                <a:cs typeface="Times New Roman" panose="02020603050405020304" pitchFamily="18" charset="0"/>
              </a:rPr>
              <a:t>Processor:</a:t>
            </a:r>
            <a:r>
              <a:rPr lang="en-IN" sz="1600">
                <a:latin typeface="Times New Roman" panose="02020603050405020304" pitchFamily="18" charset="0"/>
                <a:cs typeface="Times New Roman" panose="02020603050405020304" pitchFamily="18" charset="0"/>
              </a:rPr>
              <a:t> Intel Core i7 / AMD Ryzen 7 or above </a:t>
            </a:r>
          </a:p>
          <a:p>
            <a:pPr marL="285750" lvl="0" indent="-285750">
              <a:buFont typeface="Arial" panose="020B0604020202020204" pitchFamily="34" charset="0"/>
              <a:buChar char="•"/>
            </a:pPr>
            <a:r>
              <a:rPr lang="en-IN" sz="1600" b="1">
                <a:latin typeface="Times New Roman" panose="02020603050405020304" pitchFamily="18" charset="0"/>
                <a:cs typeface="Times New Roman" panose="02020603050405020304" pitchFamily="18" charset="0"/>
              </a:rPr>
              <a:t>Storage:</a:t>
            </a:r>
            <a:r>
              <a:rPr lang="en-IN" sz="1600">
                <a:latin typeface="Times New Roman" panose="02020603050405020304" pitchFamily="18" charset="0"/>
                <a:cs typeface="Times New Roman" panose="02020603050405020304" pitchFamily="18" charset="0"/>
              </a:rPr>
              <a:t> 50 GB SSD free space </a:t>
            </a:r>
          </a:p>
          <a:p>
            <a:pPr marL="285750" lvl="0" indent="-285750">
              <a:buFont typeface="Arial" panose="020B0604020202020204" pitchFamily="34" charset="0"/>
              <a:buChar char="•"/>
            </a:pPr>
            <a:r>
              <a:rPr lang="en-IN" sz="1600" b="1">
                <a:latin typeface="Times New Roman" panose="02020603050405020304" pitchFamily="18" charset="0"/>
                <a:cs typeface="Times New Roman" panose="02020603050405020304" pitchFamily="18" charset="0"/>
              </a:rPr>
              <a:t>GPU:</a:t>
            </a:r>
            <a:r>
              <a:rPr lang="en-IN" sz="1600">
                <a:latin typeface="Times New Roman" panose="02020603050405020304" pitchFamily="18" charset="0"/>
                <a:cs typeface="Times New Roman" panose="02020603050405020304" pitchFamily="18" charset="0"/>
              </a:rPr>
              <a:t> Optional (NVIDIA GPU for faster AI inference)</a:t>
            </a:r>
          </a:p>
          <a:p>
            <a:pPr marL="285750" lvl="0" indent="-285750">
              <a:buFont typeface="Arial" panose="020B0604020202020204" pitchFamily="34" charset="0"/>
              <a:buChar char="•"/>
            </a:pPr>
            <a:r>
              <a:rPr lang="en-IN" sz="1600" b="1">
                <a:latin typeface="Times New Roman" panose="02020603050405020304" pitchFamily="18" charset="0"/>
                <a:cs typeface="Times New Roman" panose="02020603050405020304" pitchFamily="18" charset="0"/>
              </a:rPr>
              <a:t>Internet Connection:</a:t>
            </a:r>
            <a:r>
              <a:rPr lang="en-IN" sz="1600">
                <a:latin typeface="Times New Roman" panose="02020603050405020304" pitchFamily="18" charset="0"/>
                <a:cs typeface="Times New Roman" panose="02020603050405020304" pitchFamily="18" charset="0"/>
              </a:rPr>
              <a:t> Stable Internet connection</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179967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464797-808C-33EB-7364-F1EB4E9012C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82BD74B-A9AD-202F-A80A-71BA22A78E56}"/>
              </a:ext>
            </a:extLst>
          </p:cNvPr>
          <p:cNvSpPr/>
          <p:nvPr/>
        </p:nvSpPr>
        <p:spPr>
          <a:xfrm>
            <a:off x="838200" y="772645"/>
            <a:ext cx="7467600" cy="523220"/>
          </a:xfrm>
          <a:prstGeom prst="rect">
            <a:avLst/>
          </a:prstGeom>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2800" b="1">
                <a:latin typeface="Times New Roman" panose="02020603050405020304" pitchFamily="18" charset="0"/>
                <a:cs typeface="Times New Roman" panose="02020603050405020304" pitchFamily="18" charset="0"/>
              </a:rPr>
              <a:t>References</a:t>
            </a:r>
            <a:endParaRPr lang="en-US" sz="2800" b="1" dirty="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F3FD204B-6A48-B8BE-44D5-FB99C06A2D2C}"/>
              </a:ext>
            </a:extLst>
          </p:cNvPr>
          <p:cNvSpPr>
            <a:spLocks noChangeArrowheads="1"/>
          </p:cNvSpPr>
          <p:nvPr/>
        </p:nvSpPr>
        <p:spPr bwMode="auto">
          <a:xfrm rot="10800000" flipV="1">
            <a:off x="838200" y="1458549"/>
            <a:ext cx="7383449" cy="42165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algn="just">
              <a:buFont typeface="+mj-lt"/>
              <a:buAutoNum type="arabicParenR"/>
            </a:pPr>
            <a:r>
              <a:rPr lang="en-IN"/>
              <a:t>H. Zhang et al., "SQL-PaLM: Improved Large Language Model Adaptation for Text-to-SQL," </a:t>
            </a:r>
            <a:r>
              <a:rPr lang="en-IN" i="1"/>
              <a:t>Proceedings of EMNLP</a:t>
            </a:r>
            <a:r>
              <a:rPr lang="en-IN"/>
              <a:t>, 2023. </a:t>
            </a:r>
          </a:p>
          <a:p>
            <a:pPr marL="342900" lvl="0" indent="-342900" algn="just">
              <a:buFont typeface="+mj-lt"/>
              <a:buAutoNum type="arabicParenR"/>
            </a:pPr>
            <a:r>
              <a:rPr lang="en-IN"/>
              <a:t>Y. Li et al., "DIN-SQL: Decomposed In-Context Learning for Text-to-SQL with Large Language Models," </a:t>
            </a:r>
            <a:r>
              <a:rPr lang="en-IN" i="1"/>
              <a:t>NeurIPS Workshop</a:t>
            </a:r>
            <a:r>
              <a:rPr lang="en-IN"/>
              <a:t>, 2023. </a:t>
            </a:r>
          </a:p>
          <a:p>
            <a:pPr marL="342900" lvl="0" indent="-342900" algn="just">
              <a:buFont typeface="+mj-lt"/>
              <a:buAutoNum type="arabicParenR"/>
            </a:pPr>
            <a:r>
              <a:rPr lang="en-IN"/>
              <a:t>OpenAI, "GPT-4 Technical Report," </a:t>
            </a:r>
            <a:r>
              <a:rPr lang="en-IN" i="1"/>
              <a:t>arXiv preprint arXiv:2303.08774</a:t>
            </a:r>
            <a:r>
              <a:rPr lang="en-IN"/>
              <a:t>, 2023. </a:t>
            </a:r>
          </a:p>
          <a:p>
            <a:pPr marL="342900" lvl="0" indent="-342900" algn="just">
              <a:buFont typeface="+mj-lt"/>
              <a:buAutoNum type="arabicParenR"/>
            </a:pPr>
            <a:r>
              <a:rPr lang="en-IN"/>
              <a:t>J. Wei et al., "Chain-of-Thought Prompting Elicits Reasoning in Large Language Models," </a:t>
            </a:r>
            <a:r>
              <a:rPr lang="en-IN" i="1"/>
              <a:t>NeurIPS</a:t>
            </a:r>
            <a:r>
              <a:rPr lang="en-IN"/>
              <a:t>, updated applications widely adopted in LLM systems, 2023. </a:t>
            </a:r>
          </a:p>
          <a:p>
            <a:pPr marL="342900" indent="-342900" algn="just">
              <a:buFont typeface="+mj-lt"/>
              <a:buAutoNum type="arabicParenR"/>
            </a:pPr>
            <a:r>
              <a:rPr lang="en-IN"/>
              <a:t>B. Yu et al., "Spider 2.0: A Realistic and Challenging Text-to-SQL Benchmark," </a:t>
            </a:r>
            <a:r>
              <a:rPr lang="en-IN" i="1"/>
              <a:t>arXiv</a:t>
            </a:r>
            <a:r>
              <a:rPr lang="en-IN"/>
              <a:t>, 2024</a:t>
            </a:r>
          </a:p>
          <a:p>
            <a:pPr marL="342900" lvl="0" indent="-342900" algn="just">
              <a:buFont typeface="+mj-lt"/>
              <a:buAutoNum type="arabicParenR"/>
            </a:pPr>
            <a:r>
              <a:rPr lang="en-IN"/>
              <a:t>Google DeepMind, "Gemini: A Family of Highly Capable Multimodal Models," </a:t>
            </a:r>
            <a:r>
              <a:rPr lang="en-IN" i="1"/>
              <a:t>arXiv</a:t>
            </a:r>
            <a:r>
              <a:rPr lang="en-IN"/>
              <a:t>, 2024. </a:t>
            </a:r>
          </a:p>
          <a:p>
            <a:pPr marL="342900" lvl="0" indent="-342900" algn="just">
              <a:buFont typeface="+mj-lt"/>
              <a:buAutoNum type="arabicParenR"/>
            </a:pPr>
            <a:r>
              <a:rPr lang="en-IN"/>
              <a:t>Apache Software Foundation, "Apache Superset Documentation," 2025 Edition. </a:t>
            </a:r>
          </a:p>
          <a:p>
            <a:pPr algn="just"/>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002595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1074</TotalTime>
  <Words>1046</Words>
  <Application>Microsoft Office PowerPoint</Application>
  <PresentationFormat>On-screen Show (4:3)</PresentationFormat>
  <Paragraphs>105</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Calibri Light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azizes</dc:creator>
  <cp:lastModifiedBy>shaik Azizes</cp:lastModifiedBy>
  <cp:revision>47</cp:revision>
  <dcterms:modified xsi:type="dcterms:W3CDTF">2026-08-11T05:33:05Z</dcterms:modified>
</cp:coreProperties>
</file>